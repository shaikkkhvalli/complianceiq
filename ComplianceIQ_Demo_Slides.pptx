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182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dirty="0"/>
              <a:t>[0:00 - 0:45]
Hi - this is the </a:t>
            </a:r>
            <a:r>
              <a:rPr sz="1300" dirty="0" err="1"/>
              <a:t>ComplianceIQ</a:t>
            </a:r>
            <a:r>
              <a:rPr sz="1300" dirty="0"/>
              <a:t> capstone demo. </a:t>
            </a:r>
            <a:r>
              <a:rPr sz="1300" dirty="0" err="1"/>
              <a:t>ComplianceIQ</a:t>
            </a:r>
            <a:r>
              <a:rPr sz="1300" dirty="0"/>
              <a:t> is an AI-driven multi-agent regulatory compliance system. It reads internal company policies, compares them against regulations from IRDAI and the Monetary Authority of Singapore, identifies compliance gaps, scores them by severity, and produces an audit-ready DOCX report - end to end in under thirty minutes for less than ten cents in OpenAI usage.
In the next ten minutes I'll walk through the problem, the architecture, the three agents, a live end-to-end run, the dashboard, the report, and the new </a:t>
            </a:r>
            <a:r>
              <a:rPr sz="1300" dirty="0" err="1"/>
              <a:t>FastAPI</a:t>
            </a:r>
            <a:r>
              <a:rPr sz="1300" dirty="0"/>
              <a:t> surface.
[Advance to slide 2]</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t>[0:45 - 1:45]
Compliance teams in financial services spend weeks every quarter manually cross-referencing policies against regulations. Four pain points keep coming up.
Multi-jurisdiction complexity: IRDAI and MAS update constantly, and an insurer operating in both jurisdictions has to track both.
The mapping itself: tens of thousands of clause-to-policy connections, all currently done by hand.
Late gap identification: gaps usually surface during the audit, not before, which is the worst possible time.
Documentation burden: evidence binders are rebuilt from scratch every audit cycle.
ComplianceIQ replaces that workflow with an observable, reproducible AI pipeline.
[Advance to slide 3]</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t>[1:45 - 2:45]
The system is organised into five logical layers.
Layer one is ingestion - PDFs and DOCX in, structured chunks out, classified by domain.
Layer two is the vector store - two ChromaDB collections, chunks and requirements, with OpenAI embeddings.
Layer three is the three specialised agents.
Layer four is orchestration - running the agents, scoring, evidence collection, remediation.
Layer five is the interfaces: knowledge graph, DOCX reports, the Gradio dashboard, and the new FastAPI server.
Cutting across all of them is observability - Langfuse traces every LLM call, and every run produces an immutable JSONL audit log.
[Advance to slide 4]</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t>[2:45 - 3:30]
Each stage consumes the previous stage's JSONL artefact and produces its own. That gives me three things.
First - every stage is independently runnable, debuggable, and re-runnable.
Second - any tool that opens JSON can introspect outputs. No bespoke loaders.
Third - re-runs are idempotent because Chroma uses deterministic IDs derived from source file plus chunk index.
[Advance to slide 5]</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t>[3:30 - 4:30]
Single-responsibility scales.
The Regulation Monitor reads each regulatory document and extracts a structured summary.
The Gap Detector - the core RAG component - retrieves the top five policy chunks for each requirement from ChromaDB and asks the LLM to judge coverage, severity, remediation priority, and a confidence score.
The Policy Analyzer rolls everything up per domain.
Every agent uses the same LCEL pattern: prompt pipe llm dot with-structured-output and a Pydantic schema. Schema violations fail at the agent boundary, never downstream.
[Advance to slide 6 and switch to Terminal 1]</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t>[4:30 - 8:00] LIVE SEGMENT - follow ComplianceIQ_Demo_Runbook.md
TERMINAL 1:
    python main.py orchestrate --concurrency 8 --limit 5
Narrate while it runs (~60-90s):
  'You can see the Regulation Monitor starts first... then the Gap Detector runs in parallel, with each completed gap appended to gaps.jsonl in real time...'
When done:
    type data\processed\compliance_score.json | more
  'The number is computed in pure Python - no LLM in the headline metric - using severity weights three, two, one for high, medium, low and coverage values of one, point five, and zero. Same gaps in always produce the same score.'
Then:
    python main.py dashboard
Open http://localhost:7860 and click through Overview &gt; Gaps &gt; Coverage &gt; Remediation &gt; Search &gt; Reports &gt; UPLOAD (point at HITL queue).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t>[8:00 - 9:30]
[Switch to slide 7 only briefly, then back to live demo]
Open reports/compliance_assessment_report.docx in Word.
Scroll: executive summary &gt; per-domain table &gt; top gaps &gt; remediation.
  'Audit-ready DOCX. Exactly what a regulator-facing audit binder needs.'
TERMINAL 2 (NEW terminal, leave dashboard running):
    .venv\Scripts\Activate.ps1
    python main.py api
Open http://localhost:8000/docs.
  'Same workflow, exposed over HTTP. POST /assess kicks off background runs. GET /score returns the latest ComplianceScore. GET /gaps takes filters - that's the HITL queue exposed as an API.'
Then back to terminal:
    python main.py history --compare
  'Every assessment writes a snapshot. Compare flag shows the delta against the previous run.'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t>[9:30 - 9:50]
[Pause 5 seconds on each metric block]
To wrap up - twenty-two source documents, three agents, a twelve-stage pipeline, around seven hundred LLM calls per full assessment for less than ten cents of OpenAI spend, under thirty minutes from raw PDFs to audit-ready DOCX, and one hundred percent LLM observability when Langfuse is configured.
[Advance to slide 9]</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300"/>
              <a:t>[9:50 - 10:00]
ComplianceIQ is not a notebook. It is a layered, typed, observable Python system that demonstrates production AI engineering on a real regulatory-tech problem.
Three LCEL agents over RAG and a NetworkX knowledge graph. Deterministic scoring. Audit-grade tracing. Resilience baked in. Three reach surfaces - CLI, Gradio dashboard, FastAPI.
Thank you.
[STOP RECORDING]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57200" y="2560320"/>
            <a:ext cx="548640" cy="73152"/>
          </a:xfrm>
          <a:prstGeom prst="rect">
            <a:avLst/>
          </a:prstGeom>
          <a:solidFill>
            <a:srgbClr val="C893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697480"/>
            <a:ext cx="11247120" cy="1280160"/>
          </a:xfrm>
          <a:prstGeom prst="rect">
            <a:avLst/>
          </a:prstGeom>
          <a:noFill/>
        </p:spPr>
        <p:txBody>
          <a:bodyPr wrap="square" lIns="45720" rIns="45720">
            <a:spAutoFit/>
          </a:bodyPr>
          <a:lstStyle/>
          <a:p>
            <a:pPr algn="l"/>
            <a:r>
              <a:rPr sz="7200" b="1" i="0">
                <a:solidFill>
                  <a:srgbClr val="FFFFFF"/>
                </a:solidFill>
                <a:latin typeface="Calibri"/>
              </a:rPr>
              <a:t>ComplianceIQ</a:t>
            </a:r>
          </a:p>
        </p:txBody>
      </p:sp>
      <p:sp>
        <p:nvSpPr>
          <p:cNvPr id="5" name="TextBox 4"/>
          <p:cNvSpPr txBox="1"/>
          <p:nvPr/>
        </p:nvSpPr>
        <p:spPr>
          <a:xfrm>
            <a:off x="457200" y="3931920"/>
            <a:ext cx="11247120" cy="640080"/>
          </a:xfrm>
          <a:prstGeom prst="rect">
            <a:avLst/>
          </a:prstGeom>
          <a:noFill/>
        </p:spPr>
        <p:txBody>
          <a:bodyPr wrap="square" lIns="45720" rIns="45720">
            <a:spAutoFit/>
          </a:bodyPr>
          <a:lstStyle/>
          <a:p>
            <a:pPr algn="l"/>
            <a:r>
              <a:rPr sz="2800" b="0" i="1">
                <a:solidFill>
                  <a:srgbClr val="CADCFC"/>
                </a:solidFill>
                <a:latin typeface="Calibri"/>
              </a:rPr>
              <a:t>AI-Driven Multi-Agent Regulatory Compliance System</a:t>
            </a:r>
          </a:p>
        </p:txBody>
      </p:sp>
      <p:sp>
        <p:nvSpPr>
          <p:cNvPr id="6" name="TextBox 5"/>
          <p:cNvSpPr txBox="1"/>
          <p:nvPr/>
        </p:nvSpPr>
        <p:spPr>
          <a:xfrm>
            <a:off x="457200" y="4754880"/>
            <a:ext cx="11247120" cy="548640"/>
          </a:xfrm>
          <a:prstGeom prst="rect">
            <a:avLst/>
          </a:prstGeom>
          <a:noFill/>
        </p:spPr>
        <p:txBody>
          <a:bodyPr wrap="square" lIns="45720" rIns="45720">
            <a:spAutoFit/>
          </a:bodyPr>
          <a:lstStyle/>
          <a:p>
            <a:pPr algn="l"/>
            <a:r>
              <a:rPr sz="1800" b="0" i="0">
                <a:solidFill>
                  <a:srgbClr val="CADCFC"/>
                </a:solidFill>
                <a:latin typeface="Calibri"/>
              </a:rPr>
              <a:t>IRDAI . MAS  ·  3 specialized agents  ·  knowledge graph  ·  audit-grade observability</a:t>
            </a:r>
          </a:p>
        </p:txBody>
      </p:sp>
      <p:sp>
        <p:nvSpPr>
          <p:cNvPr id="7" name="TextBox 6"/>
          <p:cNvSpPr txBox="1"/>
          <p:nvPr/>
        </p:nvSpPr>
        <p:spPr>
          <a:xfrm>
            <a:off x="457200" y="6126480"/>
            <a:ext cx="11247120" cy="365760"/>
          </a:xfrm>
          <a:prstGeom prst="rect">
            <a:avLst/>
          </a:prstGeom>
          <a:noFill/>
        </p:spPr>
        <p:txBody>
          <a:bodyPr wrap="square" lIns="45720" rIns="45720">
            <a:spAutoFit/>
          </a:bodyPr>
          <a:lstStyle/>
          <a:p>
            <a:pPr algn="l"/>
            <a:r>
              <a:rPr sz="1400" b="0" i="0">
                <a:solidFill>
                  <a:srgbClr val="CADCFC"/>
                </a:solidFill>
                <a:latin typeface="Calibri"/>
              </a:rPr>
              <a:t>Capstone Demo — ~10 minutes</a:t>
            </a:r>
          </a:p>
        </p:txBody>
      </p:sp>
    </p:spTree>
  </p:cSld>
  <p:clrMapOvr>
    <a:masterClrMapping/>
  </p:clrMapOvr>
  <mc:AlternateContent xmlns:mc="http://schemas.openxmlformats.org/markup-compatibility/2006">
    <mc:Choice xmlns:p14="http://schemas.microsoft.com/office/powerpoint/2010/main" Requires="p14">
      <p:transition spd="slow" p14:dur="2000" advTm="59382"/>
    </mc:Choice>
    <mc:Fallback>
      <p:transition spd="slow" advTm="5938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1247120" cy="640080"/>
          </a:xfrm>
          <a:prstGeom prst="rect">
            <a:avLst/>
          </a:prstGeom>
          <a:noFill/>
        </p:spPr>
        <p:txBody>
          <a:bodyPr wrap="square" lIns="45720" rIns="45720">
            <a:spAutoFit/>
          </a:bodyPr>
          <a:lstStyle/>
          <a:p>
            <a:pPr algn="l"/>
            <a:r>
              <a:rPr sz="3600" b="1" i="0">
                <a:solidFill>
                  <a:srgbClr val="1F3A68"/>
                </a:solidFill>
                <a:latin typeface="Calibri"/>
              </a:rPr>
              <a:t>The problem</a:t>
            </a:r>
          </a:p>
        </p:txBody>
      </p:sp>
      <p:sp>
        <p:nvSpPr>
          <p:cNvPr id="4" name="Rectangle 3"/>
          <p:cNvSpPr/>
          <p:nvPr/>
        </p:nvSpPr>
        <p:spPr>
          <a:xfrm>
            <a:off x="457200" y="1051560"/>
            <a:ext cx="2286000" cy="54864"/>
          </a:xfrm>
          <a:prstGeom prst="rect">
            <a:avLst/>
          </a:prstGeom>
          <a:solidFill>
            <a:srgbClr val="C893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371600"/>
            <a:ext cx="11247120" cy="1097280"/>
          </a:xfrm>
          <a:prstGeom prst="rect">
            <a:avLst/>
          </a:prstGeom>
          <a:noFill/>
        </p:spPr>
        <p:txBody>
          <a:bodyPr wrap="square" lIns="45720" rIns="45720">
            <a:spAutoFit/>
          </a:bodyPr>
          <a:lstStyle/>
          <a:p>
            <a:pPr algn="l"/>
            <a:r>
              <a:rPr sz="2000" b="0" i="0">
                <a:solidFill>
                  <a:srgbClr val="1A1A1A"/>
                </a:solidFill>
                <a:latin typeface="Calibri"/>
              </a:rPr>
              <a:t>Compliance teams in financial services spend WEEKS each quarter manually cross-referencing internal policies against IRDAI / MAS regulations. Audits surface gaps LATE; evidence is rebuilt from scratch.</a:t>
            </a:r>
          </a:p>
        </p:txBody>
      </p:sp>
      <p:sp>
        <p:nvSpPr>
          <p:cNvPr id="6" name="Rounded Rectangle 5"/>
          <p:cNvSpPr/>
          <p:nvPr/>
        </p:nvSpPr>
        <p:spPr>
          <a:xfrm>
            <a:off x="457200" y="2743200"/>
            <a:ext cx="5486400" cy="1280160"/>
          </a:xfrm>
          <a:prstGeom prst="roundRect">
            <a:avLst/>
          </a:prstGeom>
          <a:solidFill>
            <a:srgbClr val="CADCFC"/>
          </a:solidFill>
          <a:ln>
            <a:solidFill>
              <a:srgbClr val="1F3A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2907792"/>
            <a:ext cx="5029200" cy="457200"/>
          </a:xfrm>
          <a:prstGeom prst="rect">
            <a:avLst/>
          </a:prstGeom>
          <a:noFill/>
        </p:spPr>
        <p:txBody>
          <a:bodyPr wrap="square" lIns="45720" rIns="45720">
            <a:spAutoFit/>
          </a:bodyPr>
          <a:lstStyle/>
          <a:p>
            <a:pPr algn="l"/>
            <a:r>
              <a:rPr sz="1800" b="1" i="0">
                <a:solidFill>
                  <a:srgbClr val="1F3A68"/>
                </a:solidFill>
                <a:latin typeface="Calibri"/>
              </a:rPr>
              <a:t>Multi-jurisdiction complexity</a:t>
            </a:r>
          </a:p>
        </p:txBody>
      </p:sp>
      <p:sp>
        <p:nvSpPr>
          <p:cNvPr id="8" name="TextBox 7"/>
          <p:cNvSpPr txBox="1"/>
          <p:nvPr/>
        </p:nvSpPr>
        <p:spPr>
          <a:xfrm>
            <a:off x="685800" y="3383280"/>
            <a:ext cx="5029200" cy="640080"/>
          </a:xfrm>
          <a:prstGeom prst="rect">
            <a:avLst/>
          </a:prstGeom>
          <a:noFill/>
        </p:spPr>
        <p:txBody>
          <a:bodyPr wrap="square" lIns="45720" rIns="45720">
            <a:spAutoFit/>
          </a:bodyPr>
          <a:lstStyle/>
          <a:p>
            <a:pPr algn="l"/>
            <a:r>
              <a:rPr sz="1300" b="0" i="0">
                <a:solidFill>
                  <a:srgbClr val="1A1A1A"/>
                </a:solidFill>
                <a:latin typeface="Calibri"/>
              </a:rPr>
              <a:t>many regulators, all updating constantly</a:t>
            </a:r>
          </a:p>
        </p:txBody>
      </p:sp>
      <p:sp>
        <p:nvSpPr>
          <p:cNvPr id="9" name="Rounded Rectangle 8"/>
          <p:cNvSpPr/>
          <p:nvPr/>
        </p:nvSpPr>
        <p:spPr>
          <a:xfrm>
            <a:off x="6309360" y="2743200"/>
            <a:ext cx="5486400" cy="1280160"/>
          </a:xfrm>
          <a:prstGeom prst="roundRect">
            <a:avLst/>
          </a:prstGeom>
          <a:solidFill>
            <a:srgbClr val="CADCFC"/>
          </a:solidFill>
          <a:ln>
            <a:solidFill>
              <a:srgbClr val="1F3A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37960" y="2907792"/>
            <a:ext cx="5029200" cy="457200"/>
          </a:xfrm>
          <a:prstGeom prst="rect">
            <a:avLst/>
          </a:prstGeom>
          <a:noFill/>
        </p:spPr>
        <p:txBody>
          <a:bodyPr wrap="square" lIns="45720" rIns="45720">
            <a:spAutoFit/>
          </a:bodyPr>
          <a:lstStyle/>
          <a:p>
            <a:pPr algn="l"/>
            <a:r>
              <a:rPr sz="1800" b="1" i="0">
                <a:solidFill>
                  <a:srgbClr val="1F3A68"/>
                </a:solidFill>
                <a:latin typeface="Calibri"/>
              </a:rPr>
              <a:t>Policy ↔ regulation mapping</a:t>
            </a:r>
          </a:p>
        </p:txBody>
      </p:sp>
      <p:sp>
        <p:nvSpPr>
          <p:cNvPr id="11" name="TextBox 10"/>
          <p:cNvSpPr txBox="1"/>
          <p:nvPr/>
        </p:nvSpPr>
        <p:spPr>
          <a:xfrm>
            <a:off x="6537960" y="3383280"/>
            <a:ext cx="5029200" cy="640080"/>
          </a:xfrm>
          <a:prstGeom prst="rect">
            <a:avLst/>
          </a:prstGeom>
          <a:noFill/>
        </p:spPr>
        <p:txBody>
          <a:bodyPr wrap="square" lIns="45720" rIns="45720">
            <a:spAutoFit/>
          </a:bodyPr>
          <a:lstStyle/>
          <a:p>
            <a:pPr algn="l"/>
            <a:r>
              <a:rPr sz="1300" b="0" i="0">
                <a:solidFill>
                  <a:srgbClr val="1A1A1A"/>
                </a:solidFill>
                <a:latin typeface="Calibri"/>
              </a:rPr>
              <a:t>tens of thousands of clause connections done by hand</a:t>
            </a:r>
          </a:p>
        </p:txBody>
      </p:sp>
      <p:sp>
        <p:nvSpPr>
          <p:cNvPr id="12" name="Rounded Rectangle 11"/>
          <p:cNvSpPr/>
          <p:nvPr/>
        </p:nvSpPr>
        <p:spPr>
          <a:xfrm>
            <a:off x="457200" y="4297680"/>
            <a:ext cx="5486400" cy="1280160"/>
          </a:xfrm>
          <a:prstGeom prst="roundRect">
            <a:avLst/>
          </a:prstGeom>
          <a:solidFill>
            <a:srgbClr val="CADCFC"/>
          </a:solidFill>
          <a:ln>
            <a:solidFill>
              <a:srgbClr val="1F3A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4462272"/>
            <a:ext cx="5029200" cy="457200"/>
          </a:xfrm>
          <a:prstGeom prst="rect">
            <a:avLst/>
          </a:prstGeom>
          <a:noFill/>
        </p:spPr>
        <p:txBody>
          <a:bodyPr wrap="square" lIns="45720" rIns="45720">
            <a:spAutoFit/>
          </a:bodyPr>
          <a:lstStyle/>
          <a:p>
            <a:pPr algn="l"/>
            <a:r>
              <a:rPr sz="1800" b="1" i="0">
                <a:solidFill>
                  <a:srgbClr val="1F3A68"/>
                </a:solidFill>
                <a:latin typeface="Calibri"/>
              </a:rPr>
              <a:t>Late gap identification</a:t>
            </a:r>
          </a:p>
        </p:txBody>
      </p:sp>
      <p:sp>
        <p:nvSpPr>
          <p:cNvPr id="14" name="TextBox 13"/>
          <p:cNvSpPr txBox="1"/>
          <p:nvPr/>
        </p:nvSpPr>
        <p:spPr>
          <a:xfrm>
            <a:off x="685800" y="4937760"/>
            <a:ext cx="5029200" cy="640080"/>
          </a:xfrm>
          <a:prstGeom prst="rect">
            <a:avLst/>
          </a:prstGeom>
          <a:noFill/>
        </p:spPr>
        <p:txBody>
          <a:bodyPr wrap="square" lIns="45720" rIns="45720">
            <a:spAutoFit/>
          </a:bodyPr>
          <a:lstStyle/>
          <a:p>
            <a:pPr algn="l"/>
            <a:r>
              <a:rPr sz="1300" b="0" i="0">
                <a:solidFill>
                  <a:srgbClr val="1A1A1A"/>
                </a:solidFill>
                <a:latin typeface="Calibri"/>
              </a:rPr>
              <a:t>gaps surface during the audit, not before</a:t>
            </a:r>
          </a:p>
        </p:txBody>
      </p:sp>
      <p:sp>
        <p:nvSpPr>
          <p:cNvPr id="15" name="Rounded Rectangle 14"/>
          <p:cNvSpPr/>
          <p:nvPr/>
        </p:nvSpPr>
        <p:spPr>
          <a:xfrm>
            <a:off x="6309360" y="4297680"/>
            <a:ext cx="5486400" cy="1280160"/>
          </a:xfrm>
          <a:prstGeom prst="roundRect">
            <a:avLst/>
          </a:prstGeom>
          <a:solidFill>
            <a:srgbClr val="CADCFC"/>
          </a:solidFill>
          <a:ln>
            <a:solidFill>
              <a:srgbClr val="1F3A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37960" y="4462272"/>
            <a:ext cx="5029200" cy="457200"/>
          </a:xfrm>
          <a:prstGeom prst="rect">
            <a:avLst/>
          </a:prstGeom>
          <a:noFill/>
        </p:spPr>
        <p:txBody>
          <a:bodyPr wrap="square" lIns="45720" rIns="45720">
            <a:spAutoFit/>
          </a:bodyPr>
          <a:lstStyle/>
          <a:p>
            <a:pPr algn="l"/>
            <a:r>
              <a:rPr sz="1800" b="1" i="0">
                <a:solidFill>
                  <a:srgbClr val="1F3A68"/>
                </a:solidFill>
                <a:latin typeface="Calibri"/>
              </a:rPr>
              <a:t>Documentation burden</a:t>
            </a:r>
          </a:p>
        </p:txBody>
      </p:sp>
      <p:sp>
        <p:nvSpPr>
          <p:cNvPr id="17" name="TextBox 16"/>
          <p:cNvSpPr txBox="1"/>
          <p:nvPr/>
        </p:nvSpPr>
        <p:spPr>
          <a:xfrm>
            <a:off x="6537960" y="4937760"/>
            <a:ext cx="5029200" cy="640080"/>
          </a:xfrm>
          <a:prstGeom prst="rect">
            <a:avLst/>
          </a:prstGeom>
          <a:noFill/>
        </p:spPr>
        <p:txBody>
          <a:bodyPr wrap="square" lIns="45720" rIns="45720">
            <a:spAutoFit/>
          </a:bodyPr>
          <a:lstStyle/>
          <a:p>
            <a:pPr algn="l"/>
            <a:r>
              <a:rPr sz="1300" b="0" i="0">
                <a:solidFill>
                  <a:srgbClr val="1A1A1A"/>
                </a:solidFill>
                <a:latin typeface="Calibri"/>
              </a:rPr>
              <a:t>evidence binders rebuilt from scratch every cycle</a:t>
            </a:r>
          </a:p>
        </p:txBody>
      </p:sp>
    </p:spTree>
  </p:cSld>
  <p:clrMapOvr>
    <a:masterClrMapping/>
  </p:clrMapOvr>
  <mc:AlternateContent xmlns:mc="http://schemas.openxmlformats.org/markup-compatibility/2006">
    <mc:Choice xmlns:p14="http://schemas.microsoft.com/office/powerpoint/2010/main" Requires="p14">
      <p:transition spd="slow" p14:dur="2000" advTm="72828"/>
    </mc:Choice>
    <mc:Fallback>
      <p:transition spd="slow" advTm="72828"/>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1247120" cy="640080"/>
          </a:xfrm>
          <a:prstGeom prst="rect">
            <a:avLst/>
          </a:prstGeom>
          <a:noFill/>
        </p:spPr>
        <p:txBody>
          <a:bodyPr wrap="square" lIns="45720" rIns="45720">
            <a:spAutoFit/>
          </a:bodyPr>
          <a:lstStyle/>
          <a:p>
            <a:pPr algn="l"/>
            <a:r>
              <a:rPr sz="3600" b="1" i="0">
                <a:solidFill>
                  <a:srgbClr val="1F3A68"/>
                </a:solidFill>
                <a:latin typeface="Calibri"/>
              </a:rPr>
              <a:t>Architecture — five layers</a:t>
            </a:r>
          </a:p>
        </p:txBody>
      </p:sp>
      <p:sp>
        <p:nvSpPr>
          <p:cNvPr id="4" name="Rectangle 3"/>
          <p:cNvSpPr/>
          <p:nvPr/>
        </p:nvSpPr>
        <p:spPr>
          <a:xfrm>
            <a:off x="457200" y="1051560"/>
            <a:ext cx="2743200" cy="54864"/>
          </a:xfrm>
          <a:prstGeom prst="rect">
            <a:avLst/>
          </a:prstGeom>
          <a:solidFill>
            <a:srgbClr val="C893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diag_components.png"/>
          <p:cNvPicPr>
            <a:picLocks noChangeAspect="1"/>
          </p:cNvPicPr>
          <p:nvPr/>
        </p:nvPicPr>
        <p:blipFill>
          <a:blip r:embed="rId3"/>
          <a:stretch>
            <a:fillRect/>
          </a:stretch>
        </p:blipFill>
        <p:spPr>
          <a:xfrm>
            <a:off x="548640" y="1280160"/>
            <a:ext cx="10972800" cy="7477432"/>
          </a:xfrm>
          <a:prstGeom prst="rect">
            <a:avLst/>
          </a:prstGeom>
        </p:spPr>
      </p:pic>
      <p:sp>
        <p:nvSpPr>
          <p:cNvPr id="6" name="TextBox 5"/>
          <p:cNvSpPr txBox="1"/>
          <p:nvPr/>
        </p:nvSpPr>
        <p:spPr>
          <a:xfrm>
            <a:off x="548640" y="6446520"/>
            <a:ext cx="10972800" cy="365760"/>
          </a:xfrm>
          <a:prstGeom prst="rect">
            <a:avLst/>
          </a:prstGeom>
          <a:noFill/>
        </p:spPr>
        <p:txBody>
          <a:bodyPr wrap="square" lIns="45720" rIns="45720">
            <a:spAutoFit/>
          </a:bodyPr>
          <a:lstStyle/>
          <a:p>
            <a:pPr algn="ctr"/>
            <a:r>
              <a:rPr sz="1200" b="0" i="1">
                <a:solidFill>
                  <a:srgbClr val="555555"/>
                </a:solidFill>
                <a:latin typeface="Calibri"/>
              </a:rPr>
              <a:t>Cross-cutting observability + immutable audit log on every run.</a:t>
            </a:r>
          </a:p>
        </p:txBody>
      </p:sp>
    </p:spTree>
  </p:cSld>
  <p:clrMapOvr>
    <a:masterClrMapping/>
  </p:clrMapOvr>
  <mc:AlternateContent xmlns:mc="http://schemas.openxmlformats.org/markup-compatibility/2006">
    <mc:Choice xmlns:p14="http://schemas.microsoft.com/office/powerpoint/2010/main" Requires="p14">
      <p:transition spd="slow" p14:dur="2000" advTm="59840"/>
    </mc:Choice>
    <mc:Fallback>
      <p:transition spd="slow" advTm="5984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1247120" cy="640080"/>
          </a:xfrm>
          <a:prstGeom prst="rect">
            <a:avLst/>
          </a:prstGeom>
          <a:noFill/>
        </p:spPr>
        <p:txBody>
          <a:bodyPr wrap="square" lIns="45720" rIns="45720">
            <a:spAutoFit/>
          </a:bodyPr>
          <a:lstStyle/>
          <a:p>
            <a:pPr algn="l"/>
            <a:r>
              <a:rPr sz="3000" b="1" i="0">
                <a:solidFill>
                  <a:srgbClr val="1F3A68"/>
                </a:solidFill>
                <a:latin typeface="Calibri"/>
              </a:rPr>
              <a:t>12-stage pipeline — JSONL contracts at every stage</a:t>
            </a:r>
          </a:p>
        </p:txBody>
      </p:sp>
      <p:sp>
        <p:nvSpPr>
          <p:cNvPr id="4" name="Rectangle 3"/>
          <p:cNvSpPr/>
          <p:nvPr/>
        </p:nvSpPr>
        <p:spPr>
          <a:xfrm>
            <a:off x="457200" y="1051560"/>
            <a:ext cx="2743200" cy="54864"/>
          </a:xfrm>
          <a:prstGeom prst="rect">
            <a:avLst/>
          </a:prstGeom>
          <a:solidFill>
            <a:srgbClr val="C893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diag_dataflow.png"/>
          <p:cNvPicPr>
            <a:picLocks noChangeAspect="1"/>
          </p:cNvPicPr>
          <p:nvPr/>
        </p:nvPicPr>
        <p:blipFill>
          <a:blip r:embed="rId3"/>
          <a:stretch>
            <a:fillRect/>
          </a:stretch>
        </p:blipFill>
        <p:spPr>
          <a:xfrm>
            <a:off x="548640" y="1280160"/>
            <a:ext cx="10972800" cy="7751428"/>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564"/>
    </mc:Choice>
    <mc:Fallback>
      <p:transition spd="slow" advTm="4556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1247120" cy="731520"/>
          </a:xfrm>
          <a:prstGeom prst="rect">
            <a:avLst/>
          </a:prstGeom>
          <a:noFill/>
        </p:spPr>
        <p:txBody>
          <a:bodyPr wrap="square" lIns="45720" rIns="45720">
            <a:spAutoFit/>
          </a:bodyPr>
          <a:lstStyle/>
          <a:p>
            <a:pPr algn="l"/>
            <a:r>
              <a:rPr sz="2600" b="1" i="0">
                <a:solidFill>
                  <a:srgbClr val="FFFFFF"/>
                </a:solidFill>
                <a:latin typeface="Calibri"/>
              </a:rPr>
              <a:t>Three specialized agents — single-responsibility, LCEL, Pydantic-typed</a:t>
            </a:r>
          </a:p>
        </p:txBody>
      </p:sp>
      <p:sp>
        <p:nvSpPr>
          <p:cNvPr id="4" name="Rectangle 3"/>
          <p:cNvSpPr/>
          <p:nvPr/>
        </p:nvSpPr>
        <p:spPr>
          <a:xfrm>
            <a:off x="457200" y="1143000"/>
            <a:ext cx="2743200" cy="54864"/>
          </a:xfrm>
          <a:prstGeom prst="rect">
            <a:avLst/>
          </a:prstGeom>
          <a:solidFill>
            <a:srgbClr val="C893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463040"/>
            <a:ext cx="11247120" cy="1463040"/>
          </a:xfrm>
          <a:prstGeom prst="roundRect">
            <a:avLst/>
          </a:prstGeom>
          <a:solidFill>
            <a:srgbClr val="FFFFFF"/>
          </a:solidFill>
          <a:ln>
            <a:solidFill>
              <a:srgbClr val="C893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627632"/>
            <a:ext cx="10698480" cy="548640"/>
          </a:xfrm>
          <a:prstGeom prst="rect">
            <a:avLst/>
          </a:prstGeom>
          <a:noFill/>
        </p:spPr>
        <p:txBody>
          <a:bodyPr wrap="square" lIns="45720" rIns="45720">
            <a:spAutoFit/>
          </a:bodyPr>
          <a:lstStyle/>
          <a:p>
            <a:pPr algn="l"/>
            <a:r>
              <a:rPr sz="2200" b="1" i="0">
                <a:solidFill>
                  <a:srgbClr val="1F3A68"/>
                </a:solidFill>
                <a:latin typeface="Calibri"/>
              </a:rPr>
              <a:t>Regulation Monitor</a:t>
            </a:r>
          </a:p>
        </p:txBody>
      </p:sp>
      <p:sp>
        <p:nvSpPr>
          <p:cNvPr id="7" name="TextBox 6"/>
          <p:cNvSpPr txBox="1"/>
          <p:nvPr/>
        </p:nvSpPr>
        <p:spPr>
          <a:xfrm>
            <a:off x="731520" y="2148840"/>
            <a:ext cx="10698480" cy="777240"/>
          </a:xfrm>
          <a:prstGeom prst="rect">
            <a:avLst/>
          </a:prstGeom>
          <a:noFill/>
        </p:spPr>
        <p:txBody>
          <a:bodyPr wrap="square" lIns="45720" rIns="45720">
            <a:spAutoFit/>
          </a:bodyPr>
          <a:lstStyle/>
          <a:p>
            <a:pPr algn="l"/>
            <a:r>
              <a:rPr sz="1400" b="0" i="0">
                <a:solidFill>
                  <a:srgbClr val="1A1A1A"/>
                </a:solidFill>
                <a:latin typeface="Calibri"/>
              </a:rPr>
              <a:t>Reads each IRDAI/MAS document; extracts mandatory actions + evidence needs into a typed RegulationSummary.</a:t>
            </a:r>
          </a:p>
        </p:txBody>
      </p:sp>
      <p:sp>
        <p:nvSpPr>
          <p:cNvPr id="8" name="Rounded Rectangle 7"/>
          <p:cNvSpPr/>
          <p:nvPr/>
        </p:nvSpPr>
        <p:spPr>
          <a:xfrm>
            <a:off x="457200" y="3154680"/>
            <a:ext cx="11247120" cy="1463040"/>
          </a:xfrm>
          <a:prstGeom prst="roundRect">
            <a:avLst/>
          </a:prstGeom>
          <a:solidFill>
            <a:srgbClr val="FFFFFF"/>
          </a:solidFill>
          <a:ln>
            <a:solidFill>
              <a:srgbClr val="C893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3319272"/>
            <a:ext cx="10698480" cy="548640"/>
          </a:xfrm>
          <a:prstGeom prst="rect">
            <a:avLst/>
          </a:prstGeom>
          <a:noFill/>
        </p:spPr>
        <p:txBody>
          <a:bodyPr wrap="square" lIns="45720" rIns="45720">
            <a:spAutoFit/>
          </a:bodyPr>
          <a:lstStyle/>
          <a:p>
            <a:pPr algn="l"/>
            <a:r>
              <a:rPr sz="2200" b="1" i="0">
                <a:solidFill>
                  <a:srgbClr val="1F3A68"/>
                </a:solidFill>
                <a:latin typeface="Calibri"/>
              </a:rPr>
              <a:t>Gap Detector</a:t>
            </a:r>
          </a:p>
        </p:txBody>
      </p:sp>
      <p:sp>
        <p:nvSpPr>
          <p:cNvPr id="10" name="TextBox 9"/>
          <p:cNvSpPr txBox="1"/>
          <p:nvPr/>
        </p:nvSpPr>
        <p:spPr>
          <a:xfrm>
            <a:off x="731520" y="3840480"/>
            <a:ext cx="10698480" cy="777240"/>
          </a:xfrm>
          <a:prstGeom prst="rect">
            <a:avLst/>
          </a:prstGeom>
          <a:noFill/>
        </p:spPr>
        <p:txBody>
          <a:bodyPr wrap="square" lIns="45720" rIns="45720">
            <a:spAutoFit/>
          </a:bodyPr>
          <a:lstStyle/>
          <a:p>
            <a:pPr algn="l"/>
            <a:r>
              <a:rPr sz="1400" b="0" i="0">
                <a:solidFill>
                  <a:srgbClr val="1A1A1A"/>
                </a:solidFill>
                <a:latin typeface="Calibri"/>
              </a:rPr>
              <a:t>RAG over ChromaDB (top-5 policy chunks per requirement); LLM judges coverage; writes Gap with severity, remediation_priority, confidence, and ClauseRef.</a:t>
            </a:r>
          </a:p>
        </p:txBody>
      </p:sp>
      <p:sp>
        <p:nvSpPr>
          <p:cNvPr id="11" name="Rounded Rectangle 10"/>
          <p:cNvSpPr/>
          <p:nvPr/>
        </p:nvSpPr>
        <p:spPr>
          <a:xfrm>
            <a:off x="457200" y="4846320"/>
            <a:ext cx="11247120" cy="1463040"/>
          </a:xfrm>
          <a:prstGeom prst="roundRect">
            <a:avLst/>
          </a:prstGeom>
          <a:solidFill>
            <a:srgbClr val="FFFFFF"/>
          </a:solidFill>
          <a:ln>
            <a:solidFill>
              <a:srgbClr val="C8932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5010912"/>
            <a:ext cx="10698480" cy="548640"/>
          </a:xfrm>
          <a:prstGeom prst="rect">
            <a:avLst/>
          </a:prstGeom>
          <a:noFill/>
        </p:spPr>
        <p:txBody>
          <a:bodyPr wrap="square" lIns="45720" rIns="45720">
            <a:spAutoFit/>
          </a:bodyPr>
          <a:lstStyle/>
          <a:p>
            <a:pPr algn="l"/>
            <a:r>
              <a:rPr sz="2200" b="1" i="0">
                <a:solidFill>
                  <a:srgbClr val="1F3A68"/>
                </a:solidFill>
                <a:latin typeface="Calibri"/>
              </a:rPr>
              <a:t>Policy Analyzer</a:t>
            </a:r>
          </a:p>
        </p:txBody>
      </p:sp>
      <p:sp>
        <p:nvSpPr>
          <p:cNvPr id="13" name="TextBox 12"/>
          <p:cNvSpPr txBox="1"/>
          <p:nvPr/>
        </p:nvSpPr>
        <p:spPr>
          <a:xfrm>
            <a:off x="731520" y="5532120"/>
            <a:ext cx="10698480" cy="777240"/>
          </a:xfrm>
          <a:prstGeom prst="rect">
            <a:avLst/>
          </a:prstGeom>
          <a:noFill/>
        </p:spPr>
        <p:txBody>
          <a:bodyPr wrap="square" lIns="45720" rIns="45720">
            <a:spAutoFit/>
          </a:bodyPr>
          <a:lstStyle/>
          <a:p>
            <a:pPr algn="l"/>
            <a:r>
              <a:rPr sz="1400" b="0" i="0">
                <a:solidFill>
                  <a:srgbClr val="1A1A1A"/>
                </a:solidFill>
                <a:latin typeface="Calibri"/>
              </a:rPr>
              <a:t>Aggregates gaps per Domain into a CoverageAssessment with quality + weighted scores.</a:t>
            </a:r>
          </a:p>
        </p:txBody>
      </p:sp>
    </p:spTree>
  </p:cSld>
  <p:clrMapOvr>
    <a:masterClrMapping/>
  </p:clrMapOvr>
  <mc:AlternateContent xmlns:mc="http://schemas.openxmlformats.org/markup-compatibility/2006">
    <mc:Choice xmlns:p14="http://schemas.microsoft.com/office/powerpoint/2010/main" Requires="p14">
      <p:transition spd="slow" p14:dur="2000" advTm="64979"/>
    </mc:Choice>
    <mc:Fallback>
      <p:transition spd="slow" advTm="64979"/>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1247120" cy="640080"/>
          </a:xfrm>
          <a:prstGeom prst="rect">
            <a:avLst/>
          </a:prstGeom>
          <a:noFill/>
        </p:spPr>
        <p:txBody>
          <a:bodyPr wrap="square" lIns="45720" rIns="45720">
            <a:spAutoFit/>
          </a:bodyPr>
          <a:lstStyle/>
          <a:p>
            <a:pPr algn="l"/>
            <a:r>
              <a:rPr sz="4400" b="1" i="0">
                <a:solidFill>
                  <a:srgbClr val="1F3A68"/>
                </a:solidFill>
                <a:latin typeface="Calibri"/>
              </a:rPr>
              <a:t>Live demo</a:t>
            </a:r>
          </a:p>
        </p:txBody>
      </p:sp>
      <p:sp>
        <p:nvSpPr>
          <p:cNvPr id="4" name="Rectangle 3"/>
          <p:cNvSpPr/>
          <p:nvPr/>
        </p:nvSpPr>
        <p:spPr>
          <a:xfrm>
            <a:off x="457200" y="1143000"/>
            <a:ext cx="1828800" cy="54864"/>
          </a:xfrm>
          <a:prstGeom prst="rect">
            <a:avLst/>
          </a:prstGeom>
          <a:solidFill>
            <a:srgbClr val="C893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508760"/>
            <a:ext cx="457200" cy="548640"/>
          </a:xfrm>
          <a:prstGeom prst="rect">
            <a:avLst/>
          </a:prstGeom>
          <a:noFill/>
        </p:spPr>
        <p:txBody>
          <a:bodyPr wrap="square" lIns="45720" rIns="45720">
            <a:spAutoFit/>
          </a:bodyPr>
          <a:lstStyle/>
          <a:p>
            <a:pPr algn="l"/>
            <a:r>
              <a:rPr sz="2200" b="1" i="0">
                <a:solidFill>
                  <a:srgbClr val="C8932F"/>
                </a:solidFill>
                <a:latin typeface="Calibri"/>
              </a:rPr>
              <a:t>1.</a:t>
            </a:r>
          </a:p>
        </p:txBody>
      </p:sp>
      <p:sp>
        <p:nvSpPr>
          <p:cNvPr id="6" name="TextBox 5"/>
          <p:cNvSpPr txBox="1"/>
          <p:nvPr/>
        </p:nvSpPr>
        <p:spPr>
          <a:xfrm>
            <a:off x="1097280" y="1508760"/>
            <a:ext cx="6858000" cy="548640"/>
          </a:xfrm>
          <a:prstGeom prst="rect">
            <a:avLst/>
          </a:prstGeom>
          <a:noFill/>
        </p:spPr>
        <p:txBody>
          <a:bodyPr wrap="square" lIns="45720" rIns="45720">
            <a:spAutoFit/>
          </a:bodyPr>
          <a:lstStyle/>
          <a:p>
            <a:pPr algn="l"/>
            <a:r>
              <a:rPr sz="1800" b="1" i="0">
                <a:solidFill>
                  <a:srgbClr val="1F3A68"/>
                </a:solidFill>
                <a:latin typeface="Calibri"/>
              </a:rPr>
              <a:t>python main.py orchestrate --concurrency 8 --limit 5</a:t>
            </a:r>
          </a:p>
        </p:txBody>
      </p:sp>
      <p:sp>
        <p:nvSpPr>
          <p:cNvPr id="7" name="TextBox 6"/>
          <p:cNvSpPr txBox="1"/>
          <p:nvPr/>
        </p:nvSpPr>
        <p:spPr>
          <a:xfrm>
            <a:off x="8046720" y="1508760"/>
            <a:ext cx="4023360" cy="548640"/>
          </a:xfrm>
          <a:prstGeom prst="rect">
            <a:avLst/>
          </a:prstGeom>
          <a:noFill/>
        </p:spPr>
        <p:txBody>
          <a:bodyPr wrap="square" lIns="45720" rIns="45720">
            <a:spAutoFit/>
          </a:bodyPr>
          <a:lstStyle/>
          <a:p>
            <a:pPr algn="l"/>
            <a:r>
              <a:rPr sz="1400" b="0" i="1">
                <a:solidFill>
                  <a:srgbClr val="555555"/>
                </a:solidFill>
                <a:latin typeface="Calibri"/>
              </a:rPr>
              <a:t>(small to keep it fast)</a:t>
            </a:r>
          </a:p>
        </p:txBody>
      </p:sp>
      <p:sp>
        <p:nvSpPr>
          <p:cNvPr id="8" name="TextBox 7"/>
          <p:cNvSpPr txBox="1"/>
          <p:nvPr/>
        </p:nvSpPr>
        <p:spPr>
          <a:xfrm>
            <a:off x="548640" y="2221991"/>
            <a:ext cx="457200" cy="548640"/>
          </a:xfrm>
          <a:prstGeom prst="rect">
            <a:avLst/>
          </a:prstGeom>
          <a:noFill/>
        </p:spPr>
        <p:txBody>
          <a:bodyPr wrap="square" lIns="45720" rIns="45720">
            <a:spAutoFit/>
          </a:bodyPr>
          <a:lstStyle/>
          <a:p>
            <a:pPr algn="l"/>
            <a:r>
              <a:rPr sz="2200" b="1" i="0">
                <a:solidFill>
                  <a:srgbClr val="C8932F"/>
                </a:solidFill>
                <a:latin typeface="Calibri"/>
              </a:rPr>
              <a:t>2.</a:t>
            </a:r>
          </a:p>
        </p:txBody>
      </p:sp>
      <p:sp>
        <p:nvSpPr>
          <p:cNvPr id="9" name="TextBox 8"/>
          <p:cNvSpPr txBox="1"/>
          <p:nvPr/>
        </p:nvSpPr>
        <p:spPr>
          <a:xfrm>
            <a:off x="1097280" y="2221991"/>
            <a:ext cx="6858000" cy="548640"/>
          </a:xfrm>
          <a:prstGeom prst="rect">
            <a:avLst/>
          </a:prstGeom>
          <a:noFill/>
        </p:spPr>
        <p:txBody>
          <a:bodyPr wrap="square" lIns="45720" rIns="45720">
            <a:spAutoFit/>
          </a:bodyPr>
          <a:lstStyle/>
          <a:p>
            <a:pPr algn="l"/>
            <a:r>
              <a:rPr sz="1800" b="1" i="0">
                <a:solidFill>
                  <a:srgbClr val="1F3A68"/>
                </a:solidFill>
                <a:latin typeface="Calibri"/>
              </a:rPr>
              <a:t>Inspect compliance_score.json</a:t>
            </a:r>
          </a:p>
        </p:txBody>
      </p:sp>
      <p:sp>
        <p:nvSpPr>
          <p:cNvPr id="10" name="TextBox 9"/>
          <p:cNvSpPr txBox="1"/>
          <p:nvPr/>
        </p:nvSpPr>
        <p:spPr>
          <a:xfrm>
            <a:off x="8046720" y="2221991"/>
            <a:ext cx="4023360" cy="548640"/>
          </a:xfrm>
          <a:prstGeom prst="rect">
            <a:avLst/>
          </a:prstGeom>
          <a:noFill/>
        </p:spPr>
        <p:txBody>
          <a:bodyPr wrap="square" lIns="45720" rIns="45720">
            <a:spAutoFit/>
          </a:bodyPr>
          <a:lstStyle/>
          <a:p>
            <a:pPr algn="l"/>
            <a:r>
              <a:rPr sz="1400" b="0" i="1">
                <a:solidFill>
                  <a:srgbClr val="555555"/>
                </a:solidFill>
                <a:latin typeface="Calibri"/>
              </a:rPr>
              <a:t>deterministic severity-weighted formula</a:t>
            </a:r>
          </a:p>
        </p:txBody>
      </p:sp>
      <p:sp>
        <p:nvSpPr>
          <p:cNvPr id="11" name="TextBox 10"/>
          <p:cNvSpPr txBox="1"/>
          <p:nvPr/>
        </p:nvSpPr>
        <p:spPr>
          <a:xfrm>
            <a:off x="548640" y="2935224"/>
            <a:ext cx="457200" cy="548640"/>
          </a:xfrm>
          <a:prstGeom prst="rect">
            <a:avLst/>
          </a:prstGeom>
          <a:noFill/>
        </p:spPr>
        <p:txBody>
          <a:bodyPr wrap="square" lIns="45720" rIns="45720">
            <a:spAutoFit/>
          </a:bodyPr>
          <a:lstStyle/>
          <a:p>
            <a:pPr algn="l"/>
            <a:r>
              <a:rPr sz="2200" b="1" i="0">
                <a:solidFill>
                  <a:srgbClr val="C8932F"/>
                </a:solidFill>
                <a:latin typeface="Calibri"/>
              </a:rPr>
              <a:t>3.</a:t>
            </a:r>
          </a:p>
        </p:txBody>
      </p:sp>
      <p:sp>
        <p:nvSpPr>
          <p:cNvPr id="12" name="TextBox 11"/>
          <p:cNvSpPr txBox="1"/>
          <p:nvPr/>
        </p:nvSpPr>
        <p:spPr>
          <a:xfrm>
            <a:off x="1097280" y="2935224"/>
            <a:ext cx="6858000" cy="548640"/>
          </a:xfrm>
          <a:prstGeom prst="rect">
            <a:avLst/>
          </a:prstGeom>
          <a:noFill/>
        </p:spPr>
        <p:txBody>
          <a:bodyPr wrap="square" lIns="45720" rIns="45720">
            <a:spAutoFit/>
          </a:bodyPr>
          <a:lstStyle/>
          <a:p>
            <a:pPr algn="l"/>
            <a:r>
              <a:rPr sz="1800" b="1" i="0">
                <a:solidFill>
                  <a:srgbClr val="1F3A68"/>
                </a:solidFill>
                <a:latin typeface="Calibri"/>
              </a:rPr>
              <a:t>python main.py dashboard</a:t>
            </a:r>
          </a:p>
        </p:txBody>
      </p:sp>
      <p:sp>
        <p:nvSpPr>
          <p:cNvPr id="13" name="TextBox 12"/>
          <p:cNvSpPr txBox="1"/>
          <p:nvPr/>
        </p:nvSpPr>
        <p:spPr>
          <a:xfrm>
            <a:off x="8046720" y="2935224"/>
            <a:ext cx="4023360" cy="548640"/>
          </a:xfrm>
          <a:prstGeom prst="rect">
            <a:avLst/>
          </a:prstGeom>
          <a:noFill/>
        </p:spPr>
        <p:txBody>
          <a:bodyPr wrap="square" lIns="45720" rIns="45720">
            <a:spAutoFit/>
          </a:bodyPr>
          <a:lstStyle/>
          <a:p>
            <a:pPr algn="l"/>
            <a:r>
              <a:rPr sz="1400" b="0" i="1">
                <a:solidFill>
                  <a:srgbClr val="555555"/>
                </a:solidFill>
                <a:latin typeface="Calibri"/>
              </a:rPr>
              <a:t>Overview → Gaps → Coverage → Reports → Upload</a:t>
            </a:r>
          </a:p>
        </p:txBody>
      </p:sp>
      <p:sp>
        <p:nvSpPr>
          <p:cNvPr id="14" name="TextBox 13"/>
          <p:cNvSpPr txBox="1"/>
          <p:nvPr/>
        </p:nvSpPr>
        <p:spPr>
          <a:xfrm>
            <a:off x="548640" y="3648456"/>
            <a:ext cx="457200" cy="548640"/>
          </a:xfrm>
          <a:prstGeom prst="rect">
            <a:avLst/>
          </a:prstGeom>
          <a:noFill/>
        </p:spPr>
        <p:txBody>
          <a:bodyPr wrap="square" lIns="45720" rIns="45720">
            <a:spAutoFit/>
          </a:bodyPr>
          <a:lstStyle/>
          <a:p>
            <a:pPr algn="l"/>
            <a:r>
              <a:rPr sz="2200" b="1" i="0">
                <a:solidFill>
                  <a:srgbClr val="C8932F"/>
                </a:solidFill>
                <a:latin typeface="Calibri"/>
              </a:rPr>
              <a:t>4.</a:t>
            </a:r>
          </a:p>
        </p:txBody>
      </p:sp>
      <p:sp>
        <p:nvSpPr>
          <p:cNvPr id="15" name="TextBox 14"/>
          <p:cNvSpPr txBox="1"/>
          <p:nvPr/>
        </p:nvSpPr>
        <p:spPr>
          <a:xfrm>
            <a:off x="1097280" y="3648456"/>
            <a:ext cx="6858000" cy="548640"/>
          </a:xfrm>
          <a:prstGeom prst="rect">
            <a:avLst/>
          </a:prstGeom>
          <a:noFill/>
        </p:spPr>
        <p:txBody>
          <a:bodyPr wrap="square" lIns="45720" rIns="45720">
            <a:spAutoFit/>
          </a:bodyPr>
          <a:lstStyle/>
          <a:p>
            <a:pPr algn="l"/>
            <a:r>
              <a:rPr sz="1800" b="1" i="0">
                <a:solidFill>
                  <a:srgbClr val="1F3A68"/>
                </a:solidFill>
                <a:latin typeface="Calibri"/>
              </a:rPr>
              <a:t>Open compliance_assessment_report.docx</a:t>
            </a:r>
          </a:p>
        </p:txBody>
      </p:sp>
      <p:sp>
        <p:nvSpPr>
          <p:cNvPr id="16" name="TextBox 15"/>
          <p:cNvSpPr txBox="1"/>
          <p:nvPr/>
        </p:nvSpPr>
        <p:spPr>
          <a:xfrm>
            <a:off x="8046720" y="3648456"/>
            <a:ext cx="4023360" cy="548640"/>
          </a:xfrm>
          <a:prstGeom prst="rect">
            <a:avLst/>
          </a:prstGeom>
          <a:noFill/>
        </p:spPr>
        <p:txBody>
          <a:bodyPr wrap="square" lIns="45720" rIns="45720">
            <a:spAutoFit/>
          </a:bodyPr>
          <a:lstStyle/>
          <a:p>
            <a:pPr algn="l"/>
            <a:r>
              <a:rPr sz="1400" b="0" i="1">
                <a:solidFill>
                  <a:srgbClr val="555555"/>
                </a:solidFill>
                <a:latin typeface="Calibri"/>
              </a:rPr>
              <a:t>audit-ready DOCX</a:t>
            </a:r>
          </a:p>
        </p:txBody>
      </p:sp>
      <p:sp>
        <p:nvSpPr>
          <p:cNvPr id="17" name="TextBox 16"/>
          <p:cNvSpPr txBox="1"/>
          <p:nvPr/>
        </p:nvSpPr>
        <p:spPr>
          <a:xfrm>
            <a:off x="548640" y="4361688"/>
            <a:ext cx="457200" cy="548640"/>
          </a:xfrm>
          <a:prstGeom prst="rect">
            <a:avLst/>
          </a:prstGeom>
          <a:noFill/>
        </p:spPr>
        <p:txBody>
          <a:bodyPr wrap="square" lIns="45720" rIns="45720">
            <a:spAutoFit/>
          </a:bodyPr>
          <a:lstStyle/>
          <a:p>
            <a:pPr algn="l"/>
            <a:r>
              <a:rPr sz="2200" b="1" i="0">
                <a:solidFill>
                  <a:srgbClr val="C8932F"/>
                </a:solidFill>
                <a:latin typeface="Calibri"/>
              </a:rPr>
              <a:t>5.</a:t>
            </a:r>
          </a:p>
        </p:txBody>
      </p:sp>
      <p:sp>
        <p:nvSpPr>
          <p:cNvPr id="18" name="TextBox 17"/>
          <p:cNvSpPr txBox="1"/>
          <p:nvPr/>
        </p:nvSpPr>
        <p:spPr>
          <a:xfrm>
            <a:off x="1097280" y="4361688"/>
            <a:ext cx="6858000" cy="548640"/>
          </a:xfrm>
          <a:prstGeom prst="rect">
            <a:avLst/>
          </a:prstGeom>
          <a:noFill/>
        </p:spPr>
        <p:txBody>
          <a:bodyPr wrap="square" lIns="45720" rIns="45720">
            <a:spAutoFit/>
          </a:bodyPr>
          <a:lstStyle/>
          <a:p>
            <a:pPr algn="l"/>
            <a:r>
              <a:rPr sz="1800" b="1" i="0">
                <a:solidFill>
                  <a:srgbClr val="1F3A68"/>
                </a:solidFill>
                <a:latin typeface="Calibri"/>
              </a:rPr>
              <a:t>python main.py api  →  /docs</a:t>
            </a:r>
          </a:p>
        </p:txBody>
      </p:sp>
      <p:sp>
        <p:nvSpPr>
          <p:cNvPr id="19" name="TextBox 18"/>
          <p:cNvSpPr txBox="1"/>
          <p:nvPr/>
        </p:nvSpPr>
        <p:spPr>
          <a:xfrm>
            <a:off x="8046720" y="4361688"/>
            <a:ext cx="4023360" cy="548640"/>
          </a:xfrm>
          <a:prstGeom prst="rect">
            <a:avLst/>
          </a:prstGeom>
          <a:noFill/>
        </p:spPr>
        <p:txBody>
          <a:bodyPr wrap="square" lIns="45720" rIns="45720">
            <a:spAutoFit/>
          </a:bodyPr>
          <a:lstStyle/>
          <a:p>
            <a:pPr algn="l"/>
            <a:r>
              <a:rPr sz="1400" b="0" i="1">
                <a:solidFill>
                  <a:srgbClr val="555555"/>
                </a:solidFill>
                <a:latin typeface="Calibri"/>
              </a:rPr>
              <a:t>REST endpoints; live /score and /gaps query</a:t>
            </a:r>
          </a:p>
        </p:txBody>
      </p:sp>
      <p:sp>
        <p:nvSpPr>
          <p:cNvPr id="20" name="TextBox 19"/>
          <p:cNvSpPr txBox="1"/>
          <p:nvPr/>
        </p:nvSpPr>
        <p:spPr>
          <a:xfrm>
            <a:off x="548640" y="5074920"/>
            <a:ext cx="457200" cy="548640"/>
          </a:xfrm>
          <a:prstGeom prst="rect">
            <a:avLst/>
          </a:prstGeom>
          <a:noFill/>
        </p:spPr>
        <p:txBody>
          <a:bodyPr wrap="square" lIns="45720" rIns="45720">
            <a:spAutoFit/>
          </a:bodyPr>
          <a:lstStyle/>
          <a:p>
            <a:pPr algn="l"/>
            <a:r>
              <a:rPr sz="2200" b="1" i="0">
                <a:solidFill>
                  <a:srgbClr val="C8932F"/>
                </a:solidFill>
                <a:latin typeface="Calibri"/>
              </a:rPr>
              <a:t>6.</a:t>
            </a:r>
          </a:p>
        </p:txBody>
      </p:sp>
      <p:sp>
        <p:nvSpPr>
          <p:cNvPr id="21" name="TextBox 20"/>
          <p:cNvSpPr txBox="1"/>
          <p:nvPr/>
        </p:nvSpPr>
        <p:spPr>
          <a:xfrm>
            <a:off x="1097280" y="5074920"/>
            <a:ext cx="6858000" cy="548640"/>
          </a:xfrm>
          <a:prstGeom prst="rect">
            <a:avLst/>
          </a:prstGeom>
          <a:noFill/>
        </p:spPr>
        <p:txBody>
          <a:bodyPr wrap="square" lIns="45720" rIns="45720">
            <a:spAutoFit/>
          </a:bodyPr>
          <a:lstStyle/>
          <a:p>
            <a:pPr algn="l"/>
            <a:r>
              <a:rPr sz="1800" b="1" i="0">
                <a:solidFill>
                  <a:srgbClr val="1F3A68"/>
                </a:solidFill>
                <a:latin typeface="Calibri"/>
              </a:rPr>
              <a:t>python main.py history --compare</a:t>
            </a:r>
          </a:p>
        </p:txBody>
      </p:sp>
      <p:sp>
        <p:nvSpPr>
          <p:cNvPr id="22" name="TextBox 21"/>
          <p:cNvSpPr txBox="1"/>
          <p:nvPr/>
        </p:nvSpPr>
        <p:spPr>
          <a:xfrm>
            <a:off x="8046720" y="5074920"/>
            <a:ext cx="4023360" cy="548640"/>
          </a:xfrm>
          <a:prstGeom prst="rect">
            <a:avLst/>
          </a:prstGeom>
          <a:noFill/>
        </p:spPr>
        <p:txBody>
          <a:bodyPr wrap="square" lIns="45720" rIns="45720">
            <a:spAutoFit/>
          </a:bodyPr>
          <a:lstStyle/>
          <a:p>
            <a:pPr algn="l"/>
            <a:r>
              <a:rPr sz="1400" b="0" i="1">
                <a:solidFill>
                  <a:srgbClr val="555555"/>
                </a:solidFill>
                <a:latin typeface="Calibri"/>
              </a:rPr>
              <a:t>trend tracking across runs</a:t>
            </a:r>
          </a:p>
        </p:txBody>
      </p:sp>
    </p:spTree>
  </p:cSld>
  <p:clrMapOvr>
    <a:masterClrMapping/>
  </p:clrMapOvr>
  <mc:AlternateContent xmlns:mc="http://schemas.openxmlformats.org/markup-compatibility/2006">
    <mc:Choice xmlns:p14="http://schemas.microsoft.com/office/powerpoint/2010/main" Requires="p14">
      <p:transition spd="slow" p14:dur="2000" advTm="9344"/>
    </mc:Choice>
    <mc:Fallback>
      <p:transition spd="slow" advTm="934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1247120" cy="640080"/>
          </a:xfrm>
          <a:prstGeom prst="rect">
            <a:avLst/>
          </a:prstGeom>
          <a:noFill/>
        </p:spPr>
        <p:txBody>
          <a:bodyPr wrap="square" lIns="45720" rIns="45720">
            <a:spAutoFit/>
          </a:bodyPr>
          <a:lstStyle/>
          <a:p>
            <a:pPr algn="l"/>
            <a:r>
              <a:rPr sz="3600" b="1" i="0">
                <a:solidFill>
                  <a:srgbClr val="1F3A68"/>
                </a:solidFill>
                <a:latin typeface="Calibri"/>
              </a:rPr>
              <a:t>Key technical decisions</a:t>
            </a:r>
          </a:p>
        </p:txBody>
      </p:sp>
      <p:sp>
        <p:nvSpPr>
          <p:cNvPr id="4" name="Rectangle 3"/>
          <p:cNvSpPr/>
          <p:nvPr/>
        </p:nvSpPr>
        <p:spPr>
          <a:xfrm>
            <a:off x="457200" y="1051560"/>
            <a:ext cx="2743200" cy="54864"/>
          </a:xfrm>
          <a:prstGeom prst="rect">
            <a:avLst/>
          </a:prstGeom>
          <a:solidFill>
            <a:srgbClr val="C893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417320"/>
            <a:ext cx="5486400" cy="1508760"/>
          </a:xfrm>
          <a:prstGeom prst="roundRect">
            <a:avLst/>
          </a:prstGeom>
          <a:solidFill>
            <a:srgbClr val="CADCFC"/>
          </a:solidFill>
          <a:ln>
            <a:solidFill>
              <a:srgbClr val="1F3A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554480"/>
            <a:ext cx="5029200" cy="457200"/>
          </a:xfrm>
          <a:prstGeom prst="rect">
            <a:avLst/>
          </a:prstGeom>
          <a:noFill/>
        </p:spPr>
        <p:txBody>
          <a:bodyPr wrap="square" lIns="45720" rIns="45720">
            <a:spAutoFit/>
          </a:bodyPr>
          <a:lstStyle/>
          <a:p>
            <a:pPr algn="l"/>
            <a:r>
              <a:rPr sz="1500" b="1" i="0">
                <a:solidFill>
                  <a:srgbClr val="1F3A68"/>
                </a:solidFill>
                <a:latin typeface="Calibri"/>
              </a:rPr>
              <a:t>LCEL + Pydantic structured output</a:t>
            </a:r>
          </a:p>
        </p:txBody>
      </p:sp>
      <p:sp>
        <p:nvSpPr>
          <p:cNvPr id="7" name="TextBox 6"/>
          <p:cNvSpPr txBox="1"/>
          <p:nvPr/>
        </p:nvSpPr>
        <p:spPr>
          <a:xfrm>
            <a:off x="685800" y="2057400"/>
            <a:ext cx="5029200" cy="868680"/>
          </a:xfrm>
          <a:prstGeom prst="rect">
            <a:avLst/>
          </a:prstGeom>
          <a:noFill/>
        </p:spPr>
        <p:txBody>
          <a:bodyPr wrap="square" lIns="45720" rIns="45720">
            <a:spAutoFit/>
          </a:bodyPr>
          <a:lstStyle/>
          <a:p>
            <a:pPr algn="l"/>
            <a:r>
              <a:rPr sz="1200" b="0" i="0">
                <a:solidFill>
                  <a:srgbClr val="1A1A1A"/>
                </a:solidFill>
                <a:latin typeface="Calibri"/>
              </a:rPr>
              <a:t>Schema violations fail at the agent boundary, never downstream.</a:t>
            </a:r>
          </a:p>
        </p:txBody>
      </p:sp>
      <p:sp>
        <p:nvSpPr>
          <p:cNvPr id="8" name="Rounded Rectangle 7"/>
          <p:cNvSpPr/>
          <p:nvPr/>
        </p:nvSpPr>
        <p:spPr>
          <a:xfrm>
            <a:off x="6309360" y="1417320"/>
            <a:ext cx="5486400" cy="1508760"/>
          </a:xfrm>
          <a:prstGeom prst="roundRect">
            <a:avLst/>
          </a:prstGeom>
          <a:solidFill>
            <a:srgbClr val="CADCFC"/>
          </a:solidFill>
          <a:ln>
            <a:solidFill>
              <a:srgbClr val="1F3A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37960" y="1554480"/>
            <a:ext cx="5029200" cy="457200"/>
          </a:xfrm>
          <a:prstGeom prst="rect">
            <a:avLst/>
          </a:prstGeom>
          <a:noFill/>
        </p:spPr>
        <p:txBody>
          <a:bodyPr wrap="square" lIns="45720" rIns="45720">
            <a:spAutoFit/>
          </a:bodyPr>
          <a:lstStyle/>
          <a:p>
            <a:pPr algn="l"/>
            <a:r>
              <a:rPr sz="1500" b="1" i="0">
                <a:solidFill>
                  <a:srgbClr val="1F3A68"/>
                </a:solidFill>
                <a:latin typeface="Calibri"/>
              </a:rPr>
              <a:t>Deterministic Python scoring (no LLM in headline metric)</a:t>
            </a:r>
          </a:p>
        </p:txBody>
      </p:sp>
      <p:sp>
        <p:nvSpPr>
          <p:cNvPr id="10" name="TextBox 9"/>
          <p:cNvSpPr txBox="1"/>
          <p:nvPr/>
        </p:nvSpPr>
        <p:spPr>
          <a:xfrm>
            <a:off x="6537960" y="2057400"/>
            <a:ext cx="5029200" cy="868680"/>
          </a:xfrm>
          <a:prstGeom prst="rect">
            <a:avLst/>
          </a:prstGeom>
          <a:noFill/>
        </p:spPr>
        <p:txBody>
          <a:bodyPr wrap="square" lIns="45720" rIns="45720">
            <a:spAutoFit/>
          </a:bodyPr>
          <a:lstStyle/>
          <a:p>
            <a:pPr algn="l"/>
            <a:r>
              <a:rPr sz="1200" b="0" i="0">
                <a:solidFill>
                  <a:srgbClr val="1A1A1A"/>
                </a:solidFill>
                <a:latin typeface="Calibri"/>
              </a:rPr>
              <a:t>Severity weights {3,2,1} × coverage {1.0, 0.5, 0.0}. Auditors can recompute by hand.</a:t>
            </a:r>
          </a:p>
        </p:txBody>
      </p:sp>
      <p:sp>
        <p:nvSpPr>
          <p:cNvPr id="11" name="Rounded Rectangle 10"/>
          <p:cNvSpPr/>
          <p:nvPr/>
        </p:nvSpPr>
        <p:spPr>
          <a:xfrm>
            <a:off x="457200" y="3108960"/>
            <a:ext cx="5486400" cy="1508760"/>
          </a:xfrm>
          <a:prstGeom prst="roundRect">
            <a:avLst/>
          </a:prstGeom>
          <a:solidFill>
            <a:srgbClr val="CADCFC"/>
          </a:solidFill>
          <a:ln>
            <a:solidFill>
              <a:srgbClr val="1F3A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3246120"/>
            <a:ext cx="5029200" cy="457200"/>
          </a:xfrm>
          <a:prstGeom prst="rect">
            <a:avLst/>
          </a:prstGeom>
          <a:noFill/>
        </p:spPr>
        <p:txBody>
          <a:bodyPr wrap="square" lIns="45720" rIns="45720">
            <a:spAutoFit/>
          </a:bodyPr>
          <a:lstStyle/>
          <a:p>
            <a:pPr algn="l"/>
            <a:r>
              <a:rPr sz="1500" b="1" i="0">
                <a:solidFill>
                  <a:srgbClr val="1F3A68"/>
                </a:solidFill>
                <a:latin typeface="Calibri"/>
              </a:rPr>
              <a:t>JSONL artefacts per stage</a:t>
            </a:r>
          </a:p>
        </p:txBody>
      </p:sp>
      <p:sp>
        <p:nvSpPr>
          <p:cNvPr id="13" name="TextBox 12"/>
          <p:cNvSpPr txBox="1"/>
          <p:nvPr/>
        </p:nvSpPr>
        <p:spPr>
          <a:xfrm>
            <a:off x="685800" y="3749040"/>
            <a:ext cx="5029200" cy="868680"/>
          </a:xfrm>
          <a:prstGeom prst="rect">
            <a:avLst/>
          </a:prstGeom>
          <a:noFill/>
        </p:spPr>
        <p:txBody>
          <a:bodyPr wrap="square" lIns="45720" rIns="45720">
            <a:spAutoFit/>
          </a:bodyPr>
          <a:lstStyle/>
          <a:p>
            <a:pPr algn="l"/>
            <a:r>
              <a:rPr sz="1200" b="0" i="0">
                <a:solidFill>
                  <a:srgbClr val="1A1A1A"/>
                </a:solidFill>
                <a:latin typeface="Calibri"/>
              </a:rPr>
              <a:t>jq, pandas, Excel all 'just work'; CI fixtures are checked-in JSONL snippets.</a:t>
            </a:r>
          </a:p>
        </p:txBody>
      </p:sp>
      <p:sp>
        <p:nvSpPr>
          <p:cNvPr id="14" name="Rounded Rectangle 13"/>
          <p:cNvSpPr/>
          <p:nvPr/>
        </p:nvSpPr>
        <p:spPr>
          <a:xfrm>
            <a:off x="6309360" y="3108960"/>
            <a:ext cx="5486400" cy="1508760"/>
          </a:xfrm>
          <a:prstGeom prst="roundRect">
            <a:avLst/>
          </a:prstGeom>
          <a:solidFill>
            <a:srgbClr val="CADCFC"/>
          </a:solidFill>
          <a:ln>
            <a:solidFill>
              <a:srgbClr val="1F3A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37960" y="3246120"/>
            <a:ext cx="5029200" cy="457200"/>
          </a:xfrm>
          <a:prstGeom prst="rect">
            <a:avLst/>
          </a:prstGeom>
          <a:noFill/>
        </p:spPr>
        <p:txBody>
          <a:bodyPr wrap="square" lIns="45720" rIns="45720">
            <a:spAutoFit/>
          </a:bodyPr>
          <a:lstStyle/>
          <a:p>
            <a:pPr algn="l"/>
            <a:r>
              <a:rPr sz="1500" b="1" i="0">
                <a:solidFill>
                  <a:srgbClr val="1F3A68"/>
                </a:solidFill>
                <a:latin typeface="Calibri"/>
              </a:rPr>
              <a:t>Fail-open Langfuse observability</a:t>
            </a:r>
          </a:p>
        </p:txBody>
      </p:sp>
      <p:sp>
        <p:nvSpPr>
          <p:cNvPr id="16" name="TextBox 15"/>
          <p:cNvSpPr txBox="1"/>
          <p:nvPr/>
        </p:nvSpPr>
        <p:spPr>
          <a:xfrm>
            <a:off x="6537960" y="3749040"/>
            <a:ext cx="5029200" cy="868680"/>
          </a:xfrm>
          <a:prstGeom prst="rect">
            <a:avLst/>
          </a:prstGeom>
          <a:noFill/>
        </p:spPr>
        <p:txBody>
          <a:bodyPr wrap="square" lIns="45720" rIns="45720">
            <a:spAutoFit/>
          </a:bodyPr>
          <a:lstStyle/>
          <a:p>
            <a:pPr algn="l"/>
            <a:r>
              <a:rPr sz="1200" b="0" i="0">
                <a:solidFill>
                  <a:srgbClr val="1A1A1A"/>
                </a:solidFill>
                <a:latin typeface="Calibri"/>
              </a:rPr>
              <a:t>Pipeline reliability decoupled from observability uptime.</a:t>
            </a:r>
          </a:p>
        </p:txBody>
      </p:sp>
      <p:sp>
        <p:nvSpPr>
          <p:cNvPr id="17" name="Rounded Rectangle 16"/>
          <p:cNvSpPr/>
          <p:nvPr/>
        </p:nvSpPr>
        <p:spPr>
          <a:xfrm>
            <a:off x="457200" y="4800600"/>
            <a:ext cx="5486400" cy="1508760"/>
          </a:xfrm>
          <a:prstGeom prst="roundRect">
            <a:avLst/>
          </a:prstGeom>
          <a:solidFill>
            <a:srgbClr val="CADCFC"/>
          </a:solidFill>
          <a:ln>
            <a:solidFill>
              <a:srgbClr val="1F3A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4937760"/>
            <a:ext cx="5029200" cy="457200"/>
          </a:xfrm>
          <a:prstGeom prst="rect">
            <a:avLst/>
          </a:prstGeom>
          <a:noFill/>
        </p:spPr>
        <p:txBody>
          <a:bodyPr wrap="square" lIns="45720" rIns="45720">
            <a:spAutoFit/>
          </a:bodyPr>
          <a:lstStyle/>
          <a:p>
            <a:pPr algn="l"/>
            <a:r>
              <a:rPr sz="1500" b="1" i="0">
                <a:solidFill>
                  <a:srgbClr val="1F3A68"/>
                </a:solidFill>
                <a:latin typeface="Calibri"/>
              </a:rPr>
              <a:t>Tier-up routing + LRU caches</a:t>
            </a:r>
          </a:p>
        </p:txBody>
      </p:sp>
      <p:sp>
        <p:nvSpPr>
          <p:cNvPr id="19" name="TextBox 18"/>
          <p:cNvSpPr txBox="1"/>
          <p:nvPr/>
        </p:nvSpPr>
        <p:spPr>
          <a:xfrm>
            <a:off x="685800" y="5440680"/>
            <a:ext cx="5029200" cy="868680"/>
          </a:xfrm>
          <a:prstGeom prst="rect">
            <a:avLst/>
          </a:prstGeom>
          <a:noFill/>
        </p:spPr>
        <p:txBody>
          <a:bodyPr wrap="square" lIns="45720" rIns="45720">
            <a:spAutoFit/>
          </a:bodyPr>
          <a:lstStyle/>
          <a:p>
            <a:pPr algn="l"/>
            <a:r>
              <a:rPr sz="1200" b="0" i="0">
                <a:solidFill>
                  <a:srgbClr val="1A1A1A"/>
                </a:solidFill>
                <a:latin typeface="Calibri"/>
              </a:rPr>
              <a:t>gpt-4o-mini default; tier up to gpt-4o on low-confidence high-stakes calls.</a:t>
            </a:r>
          </a:p>
        </p:txBody>
      </p:sp>
      <p:sp>
        <p:nvSpPr>
          <p:cNvPr id="20" name="Rounded Rectangle 19"/>
          <p:cNvSpPr/>
          <p:nvPr/>
        </p:nvSpPr>
        <p:spPr>
          <a:xfrm>
            <a:off x="6309360" y="4800600"/>
            <a:ext cx="5486400" cy="1508760"/>
          </a:xfrm>
          <a:prstGeom prst="roundRect">
            <a:avLst/>
          </a:prstGeom>
          <a:solidFill>
            <a:srgbClr val="CADCFC"/>
          </a:solidFill>
          <a:ln>
            <a:solidFill>
              <a:srgbClr val="1F3A6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37960" y="4937760"/>
            <a:ext cx="5029200" cy="457200"/>
          </a:xfrm>
          <a:prstGeom prst="rect">
            <a:avLst/>
          </a:prstGeom>
          <a:noFill/>
        </p:spPr>
        <p:txBody>
          <a:bodyPr wrap="square" lIns="45720" rIns="45720">
            <a:spAutoFit/>
          </a:bodyPr>
          <a:lstStyle/>
          <a:p>
            <a:pPr algn="l"/>
            <a:r>
              <a:rPr sz="1500" b="1" i="0">
                <a:solidFill>
                  <a:srgbClr val="1F3A68"/>
                </a:solidFill>
                <a:latin typeface="Calibri"/>
              </a:rPr>
              <a:t>HITL gate before remediation publication</a:t>
            </a:r>
          </a:p>
        </p:txBody>
      </p:sp>
      <p:sp>
        <p:nvSpPr>
          <p:cNvPr id="22" name="TextBox 21"/>
          <p:cNvSpPr txBox="1"/>
          <p:nvPr/>
        </p:nvSpPr>
        <p:spPr>
          <a:xfrm>
            <a:off x="6537960" y="5440680"/>
            <a:ext cx="5029200" cy="868680"/>
          </a:xfrm>
          <a:prstGeom prst="rect">
            <a:avLst/>
          </a:prstGeom>
          <a:noFill/>
        </p:spPr>
        <p:txBody>
          <a:bodyPr wrap="square" lIns="45720" rIns="45720">
            <a:spAutoFit/>
          </a:bodyPr>
          <a:lstStyle/>
          <a:p>
            <a:pPr algn="l"/>
            <a:r>
              <a:rPr sz="1200" b="0" i="0">
                <a:solidFill>
                  <a:srgbClr val="1A1A1A"/>
                </a:solidFill>
                <a:latin typeface="Calibri"/>
              </a:rPr>
              <a:t>Pauses when score &lt; threshold OR any gap is low-confidence.</a:t>
            </a:r>
          </a:p>
        </p:txBody>
      </p:sp>
    </p:spTree>
  </p:cSld>
  <p:clrMapOvr>
    <a:masterClrMapping/>
  </p:clrMapOvr>
  <mc:AlternateContent xmlns:mc="http://schemas.openxmlformats.org/markup-compatibility/2006">
    <mc:Choice xmlns:p14="http://schemas.microsoft.com/office/powerpoint/2010/main" Requires="p14">
      <p:transition spd="slow" p14:dur="2000" advTm="3150"/>
    </mc:Choice>
    <mc:Fallback>
      <p:transition spd="slow" advTm="315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65760"/>
            <a:ext cx="11247120" cy="640080"/>
          </a:xfrm>
          <a:prstGeom prst="rect">
            <a:avLst/>
          </a:prstGeom>
          <a:noFill/>
        </p:spPr>
        <p:txBody>
          <a:bodyPr wrap="square" lIns="45720" rIns="45720">
            <a:spAutoFit/>
          </a:bodyPr>
          <a:lstStyle/>
          <a:p>
            <a:pPr algn="l"/>
            <a:r>
              <a:rPr sz="3600" b="1" i="0">
                <a:solidFill>
                  <a:srgbClr val="FFFFFF"/>
                </a:solidFill>
                <a:latin typeface="Calibri"/>
              </a:rPr>
              <a:t>Headline numbers</a:t>
            </a:r>
          </a:p>
        </p:txBody>
      </p:sp>
      <p:sp>
        <p:nvSpPr>
          <p:cNvPr id="4" name="Rectangle 3"/>
          <p:cNvSpPr/>
          <p:nvPr/>
        </p:nvSpPr>
        <p:spPr>
          <a:xfrm>
            <a:off x="457200" y="1051560"/>
            <a:ext cx="2743200" cy="54864"/>
          </a:xfrm>
          <a:prstGeom prst="rect">
            <a:avLst/>
          </a:prstGeom>
          <a:solidFill>
            <a:srgbClr val="C893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691640"/>
            <a:ext cx="3657600" cy="1371600"/>
          </a:xfrm>
          <a:prstGeom prst="rect">
            <a:avLst/>
          </a:prstGeom>
          <a:noFill/>
        </p:spPr>
        <p:txBody>
          <a:bodyPr wrap="square" lIns="45720" rIns="45720">
            <a:spAutoFit/>
          </a:bodyPr>
          <a:lstStyle/>
          <a:p>
            <a:pPr algn="l"/>
            <a:r>
              <a:rPr sz="7200" b="1" i="0">
                <a:solidFill>
                  <a:srgbClr val="C8932F"/>
                </a:solidFill>
                <a:latin typeface="Calibri"/>
              </a:rPr>
              <a:t>22</a:t>
            </a:r>
          </a:p>
        </p:txBody>
      </p:sp>
      <p:sp>
        <p:nvSpPr>
          <p:cNvPr id="6" name="TextBox 5"/>
          <p:cNvSpPr txBox="1"/>
          <p:nvPr/>
        </p:nvSpPr>
        <p:spPr>
          <a:xfrm>
            <a:off x="457200" y="3154680"/>
            <a:ext cx="3657600" cy="731520"/>
          </a:xfrm>
          <a:prstGeom prst="rect">
            <a:avLst/>
          </a:prstGeom>
          <a:noFill/>
        </p:spPr>
        <p:txBody>
          <a:bodyPr wrap="square" lIns="45720" rIns="45720">
            <a:spAutoFit/>
          </a:bodyPr>
          <a:lstStyle/>
          <a:p>
            <a:pPr algn="l"/>
            <a:r>
              <a:rPr sz="1400" b="0" i="0">
                <a:solidFill>
                  <a:srgbClr val="CADCFC"/>
                </a:solidFill>
                <a:latin typeface="Calibri"/>
              </a:rPr>
              <a:t>source documents (14 IRDAI/MAS PDFs + 8 policies)</a:t>
            </a:r>
          </a:p>
        </p:txBody>
      </p:sp>
      <p:sp>
        <p:nvSpPr>
          <p:cNvPr id="7" name="TextBox 6"/>
          <p:cNvSpPr txBox="1"/>
          <p:nvPr/>
        </p:nvSpPr>
        <p:spPr>
          <a:xfrm>
            <a:off x="4389120" y="1691640"/>
            <a:ext cx="3657600" cy="1371600"/>
          </a:xfrm>
          <a:prstGeom prst="rect">
            <a:avLst/>
          </a:prstGeom>
          <a:noFill/>
        </p:spPr>
        <p:txBody>
          <a:bodyPr wrap="square" lIns="45720" rIns="45720">
            <a:spAutoFit/>
          </a:bodyPr>
          <a:lstStyle/>
          <a:p>
            <a:pPr algn="l"/>
            <a:r>
              <a:rPr sz="7200" b="1" i="0">
                <a:solidFill>
                  <a:srgbClr val="C8932F"/>
                </a:solidFill>
                <a:latin typeface="Calibri"/>
              </a:rPr>
              <a:t>3</a:t>
            </a:r>
          </a:p>
        </p:txBody>
      </p:sp>
      <p:sp>
        <p:nvSpPr>
          <p:cNvPr id="8" name="TextBox 7"/>
          <p:cNvSpPr txBox="1"/>
          <p:nvPr/>
        </p:nvSpPr>
        <p:spPr>
          <a:xfrm>
            <a:off x="4389120" y="3154680"/>
            <a:ext cx="3657600" cy="731520"/>
          </a:xfrm>
          <a:prstGeom prst="rect">
            <a:avLst/>
          </a:prstGeom>
          <a:noFill/>
        </p:spPr>
        <p:txBody>
          <a:bodyPr wrap="square" lIns="45720" rIns="45720">
            <a:spAutoFit/>
          </a:bodyPr>
          <a:lstStyle/>
          <a:p>
            <a:pPr algn="l"/>
            <a:r>
              <a:rPr sz="1400" b="0" i="0">
                <a:solidFill>
                  <a:srgbClr val="CADCFC"/>
                </a:solidFill>
                <a:latin typeface="Calibri"/>
              </a:rPr>
              <a:t>specialized agents over a 12-stage pipeline</a:t>
            </a:r>
          </a:p>
        </p:txBody>
      </p:sp>
      <p:sp>
        <p:nvSpPr>
          <p:cNvPr id="9" name="TextBox 8"/>
          <p:cNvSpPr txBox="1"/>
          <p:nvPr/>
        </p:nvSpPr>
        <p:spPr>
          <a:xfrm>
            <a:off x="8321040" y="1691640"/>
            <a:ext cx="3657600" cy="1371600"/>
          </a:xfrm>
          <a:prstGeom prst="rect">
            <a:avLst/>
          </a:prstGeom>
          <a:noFill/>
        </p:spPr>
        <p:txBody>
          <a:bodyPr wrap="square" lIns="45720" rIns="45720">
            <a:spAutoFit/>
          </a:bodyPr>
          <a:lstStyle/>
          <a:p>
            <a:pPr algn="l"/>
            <a:r>
              <a:rPr sz="7200" b="1" i="0">
                <a:solidFill>
                  <a:srgbClr val="C8932F"/>
                </a:solidFill>
                <a:latin typeface="Calibri"/>
              </a:rPr>
              <a:t>~700</a:t>
            </a:r>
          </a:p>
        </p:txBody>
      </p:sp>
      <p:sp>
        <p:nvSpPr>
          <p:cNvPr id="10" name="TextBox 9"/>
          <p:cNvSpPr txBox="1"/>
          <p:nvPr/>
        </p:nvSpPr>
        <p:spPr>
          <a:xfrm>
            <a:off x="8321040" y="3154680"/>
            <a:ext cx="3657600" cy="731520"/>
          </a:xfrm>
          <a:prstGeom prst="rect">
            <a:avLst/>
          </a:prstGeom>
          <a:noFill/>
        </p:spPr>
        <p:txBody>
          <a:bodyPr wrap="square" lIns="45720" rIns="45720">
            <a:spAutoFit/>
          </a:bodyPr>
          <a:lstStyle/>
          <a:p>
            <a:pPr algn="l"/>
            <a:r>
              <a:rPr sz="1400" b="0" i="0">
                <a:solidFill>
                  <a:srgbClr val="CADCFC"/>
                </a:solidFill>
                <a:latin typeface="Calibri"/>
              </a:rPr>
              <a:t>LLM calls per full assessment</a:t>
            </a:r>
          </a:p>
        </p:txBody>
      </p:sp>
      <p:sp>
        <p:nvSpPr>
          <p:cNvPr id="11" name="TextBox 10"/>
          <p:cNvSpPr txBox="1"/>
          <p:nvPr/>
        </p:nvSpPr>
        <p:spPr>
          <a:xfrm>
            <a:off x="457200" y="4023360"/>
            <a:ext cx="3657600" cy="1371600"/>
          </a:xfrm>
          <a:prstGeom prst="rect">
            <a:avLst/>
          </a:prstGeom>
          <a:noFill/>
        </p:spPr>
        <p:txBody>
          <a:bodyPr wrap="square" lIns="45720" rIns="45720">
            <a:spAutoFit/>
          </a:bodyPr>
          <a:lstStyle/>
          <a:p>
            <a:pPr algn="l"/>
            <a:r>
              <a:rPr sz="7200" b="1" i="0">
                <a:solidFill>
                  <a:srgbClr val="C8932F"/>
                </a:solidFill>
                <a:latin typeface="Calibri"/>
              </a:rPr>
              <a:t>&lt; $0.10</a:t>
            </a:r>
          </a:p>
        </p:txBody>
      </p:sp>
      <p:sp>
        <p:nvSpPr>
          <p:cNvPr id="12" name="TextBox 11"/>
          <p:cNvSpPr txBox="1"/>
          <p:nvPr/>
        </p:nvSpPr>
        <p:spPr>
          <a:xfrm>
            <a:off x="457200" y="5486400"/>
            <a:ext cx="3657600" cy="731520"/>
          </a:xfrm>
          <a:prstGeom prst="rect">
            <a:avLst/>
          </a:prstGeom>
          <a:noFill/>
        </p:spPr>
        <p:txBody>
          <a:bodyPr wrap="square" lIns="45720" rIns="45720">
            <a:spAutoFit/>
          </a:bodyPr>
          <a:lstStyle/>
          <a:p>
            <a:pPr algn="l"/>
            <a:r>
              <a:rPr sz="1400" b="0" i="0">
                <a:solidFill>
                  <a:srgbClr val="CADCFC"/>
                </a:solidFill>
                <a:latin typeface="Calibri"/>
              </a:rPr>
              <a:t>OpenAI spend per full run</a:t>
            </a:r>
          </a:p>
        </p:txBody>
      </p:sp>
      <p:sp>
        <p:nvSpPr>
          <p:cNvPr id="13" name="TextBox 12"/>
          <p:cNvSpPr txBox="1"/>
          <p:nvPr/>
        </p:nvSpPr>
        <p:spPr>
          <a:xfrm>
            <a:off x="4389120" y="4023360"/>
            <a:ext cx="3657600" cy="1371600"/>
          </a:xfrm>
          <a:prstGeom prst="rect">
            <a:avLst/>
          </a:prstGeom>
          <a:noFill/>
        </p:spPr>
        <p:txBody>
          <a:bodyPr wrap="square" lIns="45720" rIns="45720">
            <a:spAutoFit/>
          </a:bodyPr>
          <a:lstStyle/>
          <a:p>
            <a:pPr algn="l"/>
            <a:r>
              <a:rPr sz="7200" b="1" i="0">
                <a:solidFill>
                  <a:srgbClr val="C8932F"/>
                </a:solidFill>
                <a:latin typeface="Calibri"/>
              </a:rPr>
              <a:t>&lt; 30 min</a:t>
            </a:r>
          </a:p>
        </p:txBody>
      </p:sp>
      <p:sp>
        <p:nvSpPr>
          <p:cNvPr id="14" name="TextBox 13"/>
          <p:cNvSpPr txBox="1"/>
          <p:nvPr/>
        </p:nvSpPr>
        <p:spPr>
          <a:xfrm>
            <a:off x="4389120" y="5486400"/>
            <a:ext cx="3657600" cy="731520"/>
          </a:xfrm>
          <a:prstGeom prst="rect">
            <a:avLst/>
          </a:prstGeom>
          <a:noFill/>
        </p:spPr>
        <p:txBody>
          <a:bodyPr wrap="square" lIns="45720" rIns="45720">
            <a:spAutoFit/>
          </a:bodyPr>
          <a:lstStyle/>
          <a:p>
            <a:pPr algn="l"/>
            <a:r>
              <a:rPr sz="1400" b="0" i="0">
                <a:solidFill>
                  <a:srgbClr val="CADCFC"/>
                </a:solidFill>
                <a:latin typeface="Calibri"/>
              </a:rPr>
              <a:t>raw PDFs → audit-ready DOCX</a:t>
            </a:r>
          </a:p>
        </p:txBody>
      </p:sp>
      <p:sp>
        <p:nvSpPr>
          <p:cNvPr id="15" name="TextBox 14"/>
          <p:cNvSpPr txBox="1"/>
          <p:nvPr/>
        </p:nvSpPr>
        <p:spPr>
          <a:xfrm>
            <a:off x="8321040" y="4023360"/>
            <a:ext cx="3657600" cy="1371600"/>
          </a:xfrm>
          <a:prstGeom prst="rect">
            <a:avLst/>
          </a:prstGeom>
          <a:noFill/>
        </p:spPr>
        <p:txBody>
          <a:bodyPr wrap="square" lIns="45720" rIns="45720">
            <a:spAutoFit/>
          </a:bodyPr>
          <a:lstStyle/>
          <a:p>
            <a:pPr algn="l"/>
            <a:r>
              <a:rPr sz="7200" b="1" i="0">
                <a:solidFill>
                  <a:srgbClr val="C8932F"/>
                </a:solidFill>
                <a:latin typeface="Calibri"/>
              </a:rPr>
              <a:t>100%</a:t>
            </a:r>
          </a:p>
        </p:txBody>
      </p:sp>
      <p:sp>
        <p:nvSpPr>
          <p:cNvPr id="16" name="TextBox 15"/>
          <p:cNvSpPr txBox="1"/>
          <p:nvPr/>
        </p:nvSpPr>
        <p:spPr>
          <a:xfrm>
            <a:off x="8321040" y="5486400"/>
            <a:ext cx="3657600" cy="731520"/>
          </a:xfrm>
          <a:prstGeom prst="rect">
            <a:avLst/>
          </a:prstGeom>
          <a:noFill/>
        </p:spPr>
        <p:txBody>
          <a:bodyPr wrap="square" lIns="45720" rIns="45720">
            <a:spAutoFit/>
          </a:bodyPr>
          <a:lstStyle/>
          <a:p>
            <a:pPr algn="l"/>
            <a:r>
              <a:rPr sz="1400" b="0" i="0">
                <a:solidFill>
                  <a:srgbClr val="CADCFC"/>
                </a:solidFill>
                <a:latin typeface="Calibri"/>
              </a:rPr>
              <a:t>LLM call coverage in Langfuse traces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548640"/>
            <a:ext cx="11247120" cy="640080"/>
          </a:xfrm>
          <a:prstGeom prst="rect">
            <a:avLst/>
          </a:prstGeom>
          <a:noFill/>
        </p:spPr>
        <p:txBody>
          <a:bodyPr wrap="square" lIns="45720" rIns="45720">
            <a:spAutoFit/>
          </a:bodyPr>
          <a:lstStyle/>
          <a:p>
            <a:pPr algn="l"/>
            <a:r>
              <a:rPr sz="3600" b="1" i="0">
                <a:solidFill>
                  <a:srgbClr val="FFFFFF"/>
                </a:solidFill>
                <a:latin typeface="Calibri"/>
              </a:rPr>
              <a:t>Recap</a:t>
            </a:r>
          </a:p>
        </p:txBody>
      </p:sp>
      <p:sp>
        <p:nvSpPr>
          <p:cNvPr id="4" name="Rectangle 3"/>
          <p:cNvSpPr/>
          <p:nvPr/>
        </p:nvSpPr>
        <p:spPr>
          <a:xfrm>
            <a:off x="457200" y="1234440"/>
            <a:ext cx="2743200" cy="54864"/>
          </a:xfrm>
          <a:prstGeom prst="rect">
            <a:avLst/>
          </a:prstGeom>
          <a:solidFill>
            <a:srgbClr val="C893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548640" y="1874520"/>
            <a:ext cx="164592" cy="164592"/>
          </a:xfrm>
          <a:prstGeom prst="ellipse">
            <a:avLst/>
          </a:prstGeom>
          <a:solidFill>
            <a:srgbClr val="C893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91640"/>
            <a:ext cx="10789920" cy="640080"/>
          </a:xfrm>
          <a:prstGeom prst="rect">
            <a:avLst/>
          </a:prstGeom>
          <a:noFill/>
        </p:spPr>
        <p:txBody>
          <a:bodyPr wrap="square" lIns="45720" rIns="45720">
            <a:spAutoFit/>
          </a:bodyPr>
          <a:lstStyle/>
          <a:p>
            <a:pPr algn="l"/>
            <a:r>
              <a:rPr sz="2000" b="0" i="0">
                <a:solidFill>
                  <a:srgbClr val="FFFFFF"/>
                </a:solidFill>
                <a:latin typeface="Calibri"/>
              </a:rPr>
              <a:t>Production-shaped, layered, typed Python system — not a notebook.</a:t>
            </a:r>
          </a:p>
        </p:txBody>
      </p:sp>
      <p:sp>
        <p:nvSpPr>
          <p:cNvPr id="7" name="Oval 6"/>
          <p:cNvSpPr/>
          <p:nvPr/>
        </p:nvSpPr>
        <p:spPr>
          <a:xfrm>
            <a:off x="548640" y="2697480"/>
            <a:ext cx="164592" cy="164592"/>
          </a:xfrm>
          <a:prstGeom prst="ellipse">
            <a:avLst/>
          </a:prstGeom>
          <a:solidFill>
            <a:srgbClr val="C893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514600"/>
            <a:ext cx="10789920" cy="640080"/>
          </a:xfrm>
          <a:prstGeom prst="rect">
            <a:avLst/>
          </a:prstGeom>
          <a:noFill/>
        </p:spPr>
        <p:txBody>
          <a:bodyPr wrap="square" lIns="45720" rIns="45720">
            <a:spAutoFit/>
          </a:bodyPr>
          <a:lstStyle/>
          <a:p>
            <a:pPr algn="l"/>
            <a:r>
              <a:rPr sz="2000" b="0" i="0">
                <a:solidFill>
                  <a:srgbClr val="FFFFFF"/>
                </a:solidFill>
                <a:latin typeface="Calibri"/>
              </a:rPr>
              <a:t>Three LCEL agents + RAG + NetworkX KG + deterministic scoring.</a:t>
            </a:r>
          </a:p>
        </p:txBody>
      </p:sp>
      <p:sp>
        <p:nvSpPr>
          <p:cNvPr id="9" name="Oval 8"/>
          <p:cNvSpPr/>
          <p:nvPr/>
        </p:nvSpPr>
        <p:spPr>
          <a:xfrm>
            <a:off x="548640" y="3520440"/>
            <a:ext cx="164592" cy="164592"/>
          </a:xfrm>
          <a:prstGeom prst="ellipse">
            <a:avLst/>
          </a:prstGeom>
          <a:solidFill>
            <a:srgbClr val="C893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337560"/>
            <a:ext cx="10789920" cy="640080"/>
          </a:xfrm>
          <a:prstGeom prst="rect">
            <a:avLst/>
          </a:prstGeom>
          <a:noFill/>
        </p:spPr>
        <p:txBody>
          <a:bodyPr wrap="square" lIns="45720" rIns="45720">
            <a:spAutoFit/>
          </a:bodyPr>
          <a:lstStyle/>
          <a:p>
            <a:pPr algn="l"/>
            <a:r>
              <a:rPr sz="2000" b="0" i="0">
                <a:solidFill>
                  <a:srgbClr val="FFFFFF"/>
                </a:solidFill>
                <a:latin typeface="Calibri"/>
              </a:rPr>
              <a:t>Audit-grade: every LLM call traced, every run snapshotted to JSONL.</a:t>
            </a:r>
          </a:p>
        </p:txBody>
      </p:sp>
      <p:sp>
        <p:nvSpPr>
          <p:cNvPr id="11" name="Oval 10"/>
          <p:cNvSpPr/>
          <p:nvPr/>
        </p:nvSpPr>
        <p:spPr>
          <a:xfrm>
            <a:off x="548640" y="4343400"/>
            <a:ext cx="164592" cy="164592"/>
          </a:xfrm>
          <a:prstGeom prst="ellipse">
            <a:avLst/>
          </a:prstGeom>
          <a:solidFill>
            <a:srgbClr val="C893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4160520"/>
            <a:ext cx="10789920" cy="640080"/>
          </a:xfrm>
          <a:prstGeom prst="rect">
            <a:avLst/>
          </a:prstGeom>
          <a:noFill/>
        </p:spPr>
        <p:txBody>
          <a:bodyPr wrap="square" lIns="45720" rIns="45720">
            <a:spAutoFit/>
          </a:bodyPr>
          <a:lstStyle/>
          <a:p>
            <a:pPr algn="l"/>
            <a:r>
              <a:rPr sz="2000" b="0" i="0">
                <a:solidFill>
                  <a:srgbClr val="FFFFFF"/>
                </a:solidFill>
                <a:latin typeface="Calibri"/>
              </a:rPr>
              <a:t>Resilient: retries, model tiering, async parallelism, fail-open observability, HITL gate.</a:t>
            </a:r>
          </a:p>
        </p:txBody>
      </p:sp>
      <p:sp>
        <p:nvSpPr>
          <p:cNvPr id="13" name="Oval 12"/>
          <p:cNvSpPr/>
          <p:nvPr/>
        </p:nvSpPr>
        <p:spPr>
          <a:xfrm>
            <a:off x="548640" y="5166360"/>
            <a:ext cx="164592" cy="164592"/>
          </a:xfrm>
          <a:prstGeom prst="ellipse">
            <a:avLst/>
          </a:prstGeom>
          <a:solidFill>
            <a:srgbClr val="C893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4983480"/>
            <a:ext cx="10789920" cy="640080"/>
          </a:xfrm>
          <a:prstGeom prst="rect">
            <a:avLst/>
          </a:prstGeom>
          <a:noFill/>
        </p:spPr>
        <p:txBody>
          <a:bodyPr wrap="square" lIns="45720" rIns="45720">
            <a:spAutoFit/>
          </a:bodyPr>
          <a:lstStyle/>
          <a:p>
            <a:pPr algn="l"/>
            <a:r>
              <a:rPr sz="2000" b="0" i="0">
                <a:solidFill>
                  <a:srgbClr val="FFFFFF"/>
                </a:solidFill>
                <a:latin typeface="Calibri"/>
              </a:rPr>
              <a:t>Reach surfaces: CLI, Gradio dashboard with Upload tab, FastAPI with OpenAPI docs.</a:t>
            </a:r>
          </a:p>
        </p:txBody>
      </p:sp>
      <p:sp>
        <p:nvSpPr>
          <p:cNvPr id="15" name="TextBox 14"/>
          <p:cNvSpPr txBox="1"/>
          <p:nvPr/>
        </p:nvSpPr>
        <p:spPr>
          <a:xfrm>
            <a:off x="457200" y="6400800"/>
            <a:ext cx="11247120" cy="365760"/>
          </a:xfrm>
          <a:prstGeom prst="rect">
            <a:avLst/>
          </a:prstGeom>
          <a:noFill/>
        </p:spPr>
        <p:txBody>
          <a:bodyPr wrap="square" lIns="45720" rIns="45720">
            <a:spAutoFit/>
          </a:bodyPr>
          <a:lstStyle/>
          <a:p>
            <a:pPr algn="ctr"/>
            <a:r>
              <a:rPr sz="1800" b="0" i="1">
                <a:solidFill>
                  <a:srgbClr val="CADCFC"/>
                </a:solidFill>
                <a:latin typeface="Calibri"/>
              </a:rPr>
              <a:t>Thank you — 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845</TotalTime>
  <Words>1651</Words>
  <Application>Microsoft Office PowerPoint</Application>
  <PresentationFormat>Widescreen</PresentationFormat>
  <Paragraphs>85</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Valli Shaikkh</dc:creator>
  <cp:keywords/>
  <dc:description>generated using python-pptx</dc:description>
  <cp:lastModifiedBy>Valli Shaikkh</cp:lastModifiedBy>
  <cp:revision>6</cp:revision>
  <dcterms:created xsi:type="dcterms:W3CDTF">2013-01-27T09:14:16Z</dcterms:created>
  <dcterms:modified xsi:type="dcterms:W3CDTF">2026-05-16T10:52:39Z</dcterms:modified>
  <cp:category/>
</cp:coreProperties>
</file>